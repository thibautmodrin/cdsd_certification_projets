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5.jpeg" ContentType="image/jpeg"/>
  <Override PartName="/ppt/media/image9.jpeg" ContentType="image/jpeg"/>
  <Override PartName="/ppt/media/image12.png" ContentType="image/png"/>
  <Override PartName="/ppt/media/image3.png" ContentType="image/png"/>
  <Override PartName="/ppt/media/image14.png" ContentType="image/png"/>
  <Override PartName="/ppt/media/image5.png" ContentType="image/png"/>
  <Override PartName="/ppt/media/image8.jpeg" ContentType="image/jpeg"/>
  <Override PartName="/ppt/media/image6.png" ContentType="image/png"/>
  <Override PartName="/ppt/media/image1.png" ContentType="image/png"/>
  <Override PartName="/ppt/media/image10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979BC1D-B578-4A5F-AAFB-8D4A00EF2A5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AD2297-41C6-43D7-B31C-11A8DF65C77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46A6DD-08A9-4E7A-A937-8F3E5873442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946593D-5537-4A3A-890F-0BA15AEAA90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052DCE-B62D-41D9-986B-DDA60D078C2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B0EA3A-0208-4FBC-8795-F7E370C02F73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974C437-A0D6-4322-813D-48BB893D2DDE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D5FB6DC-8C4F-41F7-BEB2-CB71214FB29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83D39BB-6A6F-476D-9200-DA760DA6C63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AC1B629-6A03-4044-B448-AB534789E6A8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6ED505B-843A-4E10-8B74-74498F60CE4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AADBE3-CDDF-4CD7-BFB1-190ABF8E33B0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4C3A04-A72D-4F90-9743-33E451E73068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21DB06-411A-4360-8C9F-07B35B1BAFF3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CE5499-7E99-4623-8490-FF88F1FFD909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C45FA1-9978-4576-947C-141A54D1AD94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8286B3-72FB-431D-8BEC-D7E23C3049A9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6C6E0A-380F-4DD4-A14F-6A3FAF771150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C47DE3-DCEC-41D3-9CB4-A76661049076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AB6437-47DB-4E51-9409-911165402476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E8B1CB-4870-461D-9EB5-F6954FA00579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7A603E-C6DC-4FDA-AEBD-69742EEA24BE}" type="slidenum">
              <a:rPr b="0" lang="fr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fr-FR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drive.google.com/file/d/1puCYTIcqr05liPzfP14S1m7QVcDvLNHa/view" TargetMode="External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fda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263600" y="1343160"/>
            <a:ext cx="6477480" cy="21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40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Prédiction de l’Hémorragie Post partum sévère 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Google Shape;55;p13" descr=""/>
          <p:cNvPicPr/>
          <p:nvPr/>
        </p:nvPicPr>
        <p:blipFill>
          <a:blip r:embed="rId1"/>
          <a:stretch/>
        </p:blipFill>
        <p:spPr>
          <a:xfrm>
            <a:off x="840600" y="787320"/>
            <a:ext cx="972720" cy="650160"/>
          </a:xfrm>
          <a:prstGeom prst="rect">
            <a:avLst/>
          </a:prstGeom>
          <a:ln w="0">
            <a:noFill/>
          </a:ln>
        </p:spPr>
      </p:pic>
      <p:pic>
        <p:nvPicPr>
          <p:cNvPr id="32" name="Google Shape;56;p13" descr="Fichier:Hermaphrodite symbol.svg — Wikipédia"/>
          <p:cNvPicPr/>
          <p:nvPr/>
        </p:nvPicPr>
        <p:blipFill>
          <a:blip r:embed="rId2"/>
          <a:stretch/>
        </p:blipFill>
        <p:spPr>
          <a:xfrm>
            <a:off x="6343200" y="3117240"/>
            <a:ext cx="1478880" cy="1478880"/>
          </a:xfrm>
          <a:prstGeom prst="rect">
            <a:avLst/>
          </a:prstGeom>
          <a:ln w="0">
            <a:noFill/>
          </a:ln>
        </p:spPr>
      </p:pic>
      <p:sp>
        <p:nvSpPr>
          <p:cNvPr id="33" name="Rectangle 56"/>
          <p:cNvSpPr/>
          <p:nvPr/>
        </p:nvSpPr>
        <p:spPr>
          <a:xfrm>
            <a:off x="0" y="0"/>
            <a:ext cx="9143280" cy="291960"/>
          </a:xfrm>
          <a:prstGeom prst="rect">
            <a:avLst/>
          </a:prstGeom>
          <a:solidFill>
            <a:srgbClr val="3fd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4" name="TextBox 57"/>
          <p:cNvSpPr/>
          <p:nvPr/>
        </p:nvSpPr>
        <p:spPr>
          <a:xfrm>
            <a:off x="2163960" y="36720"/>
            <a:ext cx="48153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0e3449"/>
                </a:solidFill>
                <a:latin typeface="Calibri"/>
                <a:ea typeface="Arial"/>
              </a:rPr>
              <a:t>BLOC 6  ·  RNCP35288  ·  Direction de projets de gestion de données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e8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6" name="Rectangle 2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3fd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7" name="TextBox 3"/>
          <p:cNvSpPr/>
          <p:nvPr/>
        </p:nvSpPr>
        <p:spPr>
          <a:xfrm>
            <a:off x="2500920" y="164520"/>
            <a:ext cx="41414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2200" spc="-1" strike="noStrike">
                <a:solidFill>
                  <a:srgbClr val="0e3449"/>
                </a:solidFill>
                <a:latin typeface="Arial"/>
                <a:ea typeface="Arial"/>
              </a:rPr>
              <a:t>Compétences RNCP — Bloc 6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Box 4"/>
          <p:cNvSpPr/>
          <p:nvPr/>
        </p:nvSpPr>
        <p:spPr>
          <a:xfrm>
            <a:off x="2640240" y="475560"/>
            <a:ext cx="3862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fr-FR" sz="1200" spc="-1" strike="noStrike">
                <a:solidFill>
                  <a:srgbClr val="015955"/>
                </a:solidFill>
                <a:latin typeface="Calibri"/>
                <a:ea typeface="Arial"/>
              </a:rPr>
              <a:t>Projet HPP · soutenance 10 min · mapping C6.1 → C6.6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Rounded Rectangle 5"/>
          <p:cNvSpPr/>
          <p:nvPr/>
        </p:nvSpPr>
        <p:spPr>
          <a:xfrm>
            <a:off x="320040" y="868680"/>
            <a:ext cx="2742480" cy="164520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0" name="TextBox 6"/>
          <p:cNvSpPr/>
          <p:nvPr/>
        </p:nvSpPr>
        <p:spPr>
          <a:xfrm>
            <a:off x="1440000" y="1005840"/>
            <a:ext cx="50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C6.1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Box 7"/>
          <p:cNvSpPr/>
          <p:nvPr/>
        </p:nvSpPr>
        <p:spPr>
          <a:xfrm>
            <a:off x="694800" y="1325880"/>
            <a:ext cx="1992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Enjeux métier → data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Box 8"/>
          <p:cNvSpPr/>
          <p:nvPr/>
        </p:nvSpPr>
        <p:spPr>
          <a:xfrm>
            <a:off x="276480" y="1828800"/>
            <a:ext cx="2829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HPP sévère (~2 %) · anticipation soins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Rounded Rectangle 9"/>
          <p:cNvSpPr/>
          <p:nvPr/>
        </p:nvSpPr>
        <p:spPr>
          <a:xfrm>
            <a:off x="3246120" y="868680"/>
            <a:ext cx="2742480" cy="164520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4" name="TextBox 10"/>
          <p:cNvSpPr/>
          <p:nvPr/>
        </p:nvSpPr>
        <p:spPr>
          <a:xfrm>
            <a:off x="4366080" y="1005840"/>
            <a:ext cx="50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C6.2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11"/>
          <p:cNvSpPr/>
          <p:nvPr/>
        </p:nvSpPr>
        <p:spPr>
          <a:xfrm>
            <a:off x="3957840" y="1325880"/>
            <a:ext cx="1319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Veille &amp; stack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12"/>
          <p:cNvSpPr/>
          <p:nvPr/>
        </p:nvSpPr>
        <p:spPr>
          <a:xfrm>
            <a:off x="3495960" y="1828800"/>
            <a:ext cx="2242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SMOTE · XGB/RF/LR · MLflow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· Docker · HF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Rounded Rectangle 13"/>
          <p:cNvSpPr/>
          <p:nvPr/>
        </p:nvSpPr>
        <p:spPr>
          <a:xfrm>
            <a:off x="6172200" y="868680"/>
            <a:ext cx="2742480" cy="164520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8" name="TextBox 14"/>
          <p:cNvSpPr/>
          <p:nvPr/>
        </p:nvSpPr>
        <p:spPr>
          <a:xfrm>
            <a:off x="7292160" y="1005840"/>
            <a:ext cx="50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C6.3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15"/>
          <p:cNvSpPr/>
          <p:nvPr/>
        </p:nvSpPr>
        <p:spPr>
          <a:xfrm>
            <a:off x="6824160" y="1325880"/>
            <a:ext cx="143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Cadrage projet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16"/>
          <p:cNvSpPr/>
          <p:nvPr/>
        </p:nvSpPr>
        <p:spPr>
          <a:xfrm>
            <a:off x="6161400" y="1828800"/>
            <a:ext cx="2764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Objectif clinique · anti-leakage · POC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Rounded Rectangle 17"/>
          <p:cNvSpPr/>
          <p:nvPr/>
        </p:nvSpPr>
        <p:spPr>
          <a:xfrm>
            <a:off x="320040" y="2697480"/>
            <a:ext cx="2742480" cy="164520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52" name="TextBox 18"/>
          <p:cNvSpPr/>
          <p:nvPr/>
        </p:nvSpPr>
        <p:spPr>
          <a:xfrm>
            <a:off x="1440000" y="2834640"/>
            <a:ext cx="50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C6.4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9"/>
          <p:cNvSpPr/>
          <p:nvPr/>
        </p:nvSpPr>
        <p:spPr>
          <a:xfrm>
            <a:off x="883080" y="3154680"/>
            <a:ext cx="1616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Pilotage &amp; RGPD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20"/>
          <p:cNvSpPr/>
          <p:nvPr/>
        </p:nvSpPr>
        <p:spPr>
          <a:xfrm>
            <a:off x="800280" y="3657600"/>
            <a:ext cx="1782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Recall prioritaire ·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données anonymisées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Rounded Rectangle 21"/>
          <p:cNvSpPr/>
          <p:nvPr/>
        </p:nvSpPr>
        <p:spPr>
          <a:xfrm>
            <a:off x="3246120" y="2697480"/>
            <a:ext cx="2742480" cy="164520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56" name="TextBox 22"/>
          <p:cNvSpPr/>
          <p:nvPr/>
        </p:nvSpPr>
        <p:spPr>
          <a:xfrm>
            <a:off x="4366080" y="2834640"/>
            <a:ext cx="50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23"/>
          <p:cNvSpPr/>
          <p:nvPr/>
        </p:nvSpPr>
        <p:spPr>
          <a:xfrm>
            <a:off x="3966120" y="3154680"/>
            <a:ext cx="1302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Vulgarisation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24"/>
          <p:cNvSpPr/>
          <p:nvPr/>
        </p:nvSpPr>
        <p:spPr>
          <a:xfrm>
            <a:off x="3371040" y="3657600"/>
            <a:ext cx="2493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Streamlit soignants · storytelling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ounded Rectangle 25"/>
          <p:cNvSpPr/>
          <p:nvPr/>
        </p:nvSpPr>
        <p:spPr>
          <a:xfrm>
            <a:off x="6172200" y="2697480"/>
            <a:ext cx="2742480" cy="164520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0" name="TextBox 26"/>
          <p:cNvSpPr/>
          <p:nvPr/>
        </p:nvSpPr>
        <p:spPr>
          <a:xfrm>
            <a:off x="7292160" y="2834640"/>
            <a:ext cx="50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200" spc="-1" strike="noStrike">
                <a:solidFill>
                  <a:srgbClr val="3fdad2"/>
                </a:solidFill>
                <a:latin typeface="Arial"/>
                <a:ea typeface="Arial"/>
              </a:rPr>
              <a:t>C6.6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27"/>
          <p:cNvSpPr/>
          <p:nvPr/>
        </p:nvSpPr>
        <p:spPr>
          <a:xfrm>
            <a:off x="6791400" y="3154680"/>
            <a:ext cx="1503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Arial"/>
              </a:rPr>
              <a:t>Direction A → Z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28"/>
          <p:cNvSpPr/>
          <p:nvPr/>
        </p:nvSpPr>
        <p:spPr>
          <a:xfrm>
            <a:off x="6413760" y="3657600"/>
            <a:ext cx="2259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Conception → MLOps → POC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→ </a:t>
            </a:r>
            <a:r>
              <a:rPr b="0" lang="fr-FR" sz="1200" spc="-1" strike="noStrike">
                <a:solidFill>
                  <a:srgbClr val="c3fffc"/>
                </a:solidFill>
                <a:latin typeface="Calibri"/>
                <a:ea typeface="Arial"/>
              </a:rPr>
              <a:t>perspectives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ectangle 29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0e34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4" name="TextBox 30"/>
          <p:cNvSpPr/>
          <p:nvPr/>
        </p:nvSpPr>
        <p:spPr>
          <a:xfrm>
            <a:off x="1972080" y="4892040"/>
            <a:ext cx="3553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e8e4dd"/>
                </a:solidFill>
                <a:latin typeface="Calibri"/>
                <a:ea typeface="Arial"/>
              </a:rPr>
              <a:t>Thibaut Modrin  ·  RNCP35288  ·  Bloc 6 — HPP Prediction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31"/>
          <p:cNvSpPr/>
          <p:nvPr/>
        </p:nvSpPr>
        <p:spPr>
          <a:xfrm>
            <a:off x="7892640" y="4892040"/>
            <a:ext cx="581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000" spc="-1" strike="noStrike">
                <a:solidFill>
                  <a:srgbClr val="3fdad2"/>
                </a:solidFill>
                <a:latin typeface="Calibri"/>
                <a:ea typeface="Arial"/>
              </a:rPr>
              <a:t>02 / 14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1;p14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67" name="Google Shape;62;p14"/>
          <p:cNvSpPr/>
          <p:nvPr/>
        </p:nvSpPr>
        <p:spPr>
          <a:xfrm>
            <a:off x="1192680" y="403200"/>
            <a:ext cx="53143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Pourquoi ce projet ?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Google Shape;63;p14" descr="File:Micorsoft Excel 2016-2019 CSV Icon.svg - Wikimedia Commons"/>
          <p:cNvPicPr/>
          <p:nvPr/>
        </p:nvPicPr>
        <p:blipFill>
          <a:blip r:embed="rId2"/>
          <a:stretch/>
        </p:blipFill>
        <p:spPr>
          <a:xfrm>
            <a:off x="4193640" y="2439720"/>
            <a:ext cx="1697400" cy="1941120"/>
          </a:xfrm>
          <a:prstGeom prst="rect">
            <a:avLst/>
          </a:prstGeom>
          <a:ln w="0">
            <a:noFill/>
          </a:ln>
        </p:spPr>
      </p:pic>
      <p:pic>
        <p:nvPicPr>
          <p:cNvPr id="69" name="Google Shape;64;p14" descr="Fichier:.doc icon (2000-03).svg — Wikipédia"/>
          <p:cNvPicPr/>
          <p:nvPr/>
        </p:nvPicPr>
        <p:blipFill>
          <a:blip r:embed="rId3"/>
          <a:stretch/>
        </p:blipFill>
        <p:spPr>
          <a:xfrm>
            <a:off x="1896840" y="2439720"/>
            <a:ext cx="1984680" cy="1941120"/>
          </a:xfrm>
          <a:prstGeom prst="rect">
            <a:avLst/>
          </a:prstGeom>
          <a:ln w="0">
            <a:noFill/>
          </a:ln>
        </p:spPr>
      </p:pic>
      <p:sp>
        <p:nvSpPr>
          <p:cNvPr id="70" name="Google Shape;65;p14"/>
          <p:cNvSpPr/>
          <p:nvPr/>
        </p:nvSpPr>
        <p:spPr>
          <a:xfrm>
            <a:off x="2217960" y="2557080"/>
            <a:ext cx="4372560" cy="13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" sz="4400" spc="-1" strike="noStrike">
                <a:solidFill>
                  <a:srgbClr val="ff0000"/>
                </a:solidFill>
                <a:latin typeface="Arial"/>
                <a:ea typeface="Arial"/>
              </a:rPr>
              <a:t>DATA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fr" sz="4400" spc="-1" strike="noStrike">
                <a:solidFill>
                  <a:srgbClr val="ff0000"/>
                </a:solidFill>
                <a:latin typeface="Arial"/>
                <a:ea typeface="Arial"/>
              </a:rPr>
              <a:t>ANONYMISÉES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66;p14"/>
          <p:cNvSpPr/>
          <p:nvPr/>
        </p:nvSpPr>
        <p:spPr>
          <a:xfrm rot="21244200">
            <a:off x="559080" y="14799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92880" y="1250640"/>
            <a:ext cx="770868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Collaboration avec un Statisticien de la  maternité de Bourgogne ( Réseau de connaissance 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" dur="1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nodeType="after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10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2;p15"/>
          <p:cNvSpPr/>
          <p:nvPr/>
        </p:nvSpPr>
        <p:spPr>
          <a:xfrm>
            <a:off x="5400" y="-17640"/>
            <a:ext cx="3334680" cy="516060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90600" y="1138680"/>
            <a:ext cx="2512440" cy="34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rgbClr val="015955"/>
                </a:solidFill>
                <a:latin typeface="Inter"/>
                <a:ea typeface="Inter"/>
              </a:rPr>
              <a:t>Les datas: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rgbClr val="015955"/>
                </a:solidFill>
                <a:latin typeface="Inter"/>
                <a:ea typeface="Inter"/>
              </a:rPr>
              <a:t>issu de la maternité de Bourgogne 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Google Shape;74;p15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3931560" y="1443600"/>
            <a:ext cx="531432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Jeux de données avec 120 variables et 60000 lignes 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76;p15"/>
          <p:cNvSpPr/>
          <p:nvPr/>
        </p:nvSpPr>
        <p:spPr>
          <a:xfrm rot="21244200">
            <a:off x="3593520" y="168660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77;p15"/>
          <p:cNvSpPr/>
          <p:nvPr/>
        </p:nvSpPr>
        <p:spPr>
          <a:xfrm rot="21244200">
            <a:off x="3593520" y="26769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title"/>
          </p:nvPr>
        </p:nvSpPr>
        <p:spPr>
          <a:xfrm>
            <a:off x="3931560" y="604800"/>
            <a:ext cx="531432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Rapport Annuel de l’établissement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79;p15"/>
          <p:cNvSpPr/>
          <p:nvPr/>
        </p:nvSpPr>
        <p:spPr>
          <a:xfrm rot="21244200">
            <a:off x="3593520" y="84780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title"/>
          </p:nvPr>
        </p:nvSpPr>
        <p:spPr>
          <a:xfrm>
            <a:off x="4012560" y="2424960"/>
            <a:ext cx="531432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Dictionnaires des variables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Google Shape;81;p15" descr=""/>
          <p:cNvPicPr/>
          <p:nvPr/>
        </p:nvPicPr>
        <p:blipFill>
          <a:blip r:embed="rId2"/>
          <a:stretch/>
        </p:blipFill>
        <p:spPr>
          <a:xfrm>
            <a:off x="651240" y="3373920"/>
            <a:ext cx="4168800" cy="1278000"/>
          </a:xfrm>
          <a:prstGeom prst="rect">
            <a:avLst/>
          </a:prstGeom>
          <a:ln w="0">
            <a:noFill/>
          </a:ln>
        </p:spPr>
      </p:pic>
      <p:pic>
        <p:nvPicPr>
          <p:cNvPr id="83" name="Google Shape;82;p15" descr=""/>
          <p:cNvPicPr/>
          <p:nvPr/>
        </p:nvPicPr>
        <p:blipFill>
          <a:blip r:embed="rId3"/>
          <a:stretch/>
        </p:blipFill>
        <p:spPr>
          <a:xfrm>
            <a:off x="4922640" y="3406680"/>
            <a:ext cx="3962520" cy="124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7;p16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85" name="Google Shape;88;p16"/>
          <p:cNvSpPr/>
          <p:nvPr/>
        </p:nvSpPr>
        <p:spPr>
          <a:xfrm>
            <a:off x="1192680" y="403200"/>
            <a:ext cx="53143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Qu’est ce que l’HPP ?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Google Shape;89;p16"/>
          <p:cNvSpPr/>
          <p:nvPr/>
        </p:nvSpPr>
        <p:spPr>
          <a:xfrm>
            <a:off x="350280" y="1140840"/>
            <a:ext cx="8762040" cy="13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1900" spc="-1" strike="noStrike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</a:rPr>
              <a:t>Problématique : 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0097a7"/>
              </a:buClr>
              <a:buFont typeface="Roboto"/>
              <a:buChar char="-"/>
              <a:tabLst>
                <a:tab algn="l" pos="0"/>
              </a:tabLst>
            </a:pPr>
            <a:r>
              <a:rPr b="0" lang="fr" sz="1900" spc="-1" strike="noStrike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</a:rPr>
              <a:t>Hémorragie vaginale survenant dans les 24 heures après l’accouchement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0097a7"/>
              </a:buClr>
              <a:buFont typeface="Roboto"/>
              <a:buChar char="-"/>
              <a:tabLst>
                <a:tab algn="l" pos="0"/>
              </a:tabLst>
            </a:pPr>
            <a:r>
              <a:rPr b="0" lang="fr" sz="1900" spc="-1" strike="noStrike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</a:rPr>
              <a:t>HPP sévere  → Transfusion sanguine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0097a7"/>
              </a:buClr>
              <a:buFont typeface="Roboto"/>
              <a:buChar char="-"/>
              <a:tabLst>
                <a:tab algn="l" pos="0"/>
              </a:tabLst>
            </a:pPr>
            <a:r>
              <a:rPr b="0" lang="fr" sz="1900" spc="-1" strike="noStrike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</a:rPr>
              <a:t>1ère cause de mortalité en France durant l’accouchement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1900" spc="-1" strike="noStrike">
                <a:solidFill>
                  <a:schemeClr val="accent5"/>
                </a:solidFill>
                <a:highlight>
                  <a:srgbClr val="ffffff"/>
                </a:highlight>
                <a:latin typeface="Roboto"/>
                <a:ea typeface="Roboto"/>
              </a:rPr>
              <a:t>Objectif  : 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0097a7"/>
              </a:buClr>
              <a:buFont typeface="Roboto"/>
              <a:buChar char="-"/>
              <a:tabLst>
                <a:tab algn="l" pos="0"/>
              </a:tabLst>
            </a:pPr>
            <a:r>
              <a:rPr b="0" lang="fr" sz="1900" spc="-1" strike="noStrike">
                <a:solidFill>
                  <a:schemeClr val="accent5"/>
                </a:solidFill>
                <a:highlight>
                  <a:srgbClr val="ffffff"/>
                </a:highlight>
                <a:latin typeface="Roboto"/>
                <a:ea typeface="Roboto"/>
              </a:rPr>
              <a:t>Aider l’équipe soignante à mieux se préparer pour améliorer les soins 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fr" sz="1900" spc="-1" strike="noStrike">
                <a:solidFill>
                  <a:schemeClr val="accent5"/>
                </a:solidFill>
                <a:highlight>
                  <a:srgbClr val="ffffff"/>
                </a:highlight>
                <a:latin typeface="Roboto"/>
                <a:ea typeface="Roboto"/>
              </a:rPr>
              <a:t>Solution  : 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 indent="-349200">
              <a:lnSpc>
                <a:spcPct val="100000"/>
              </a:lnSpc>
              <a:buClr>
                <a:srgbClr val="0097a7"/>
              </a:buClr>
              <a:buFont typeface="Roboto"/>
              <a:buChar char="-"/>
              <a:tabLst>
                <a:tab algn="l" pos="0"/>
              </a:tabLst>
            </a:pPr>
            <a:r>
              <a:rPr b="0" lang="fr" sz="1900" spc="-1" strike="noStrike">
                <a:solidFill>
                  <a:srgbClr val="0097a7"/>
                </a:solidFill>
                <a:highlight>
                  <a:srgbClr val="ffffff"/>
                </a:highlight>
                <a:latin typeface="Roboto"/>
                <a:ea typeface="Roboto"/>
              </a:rPr>
              <a:t>Modèle de Machine Learning à utiliser avant entrée en salle d’accouchement</a:t>
            </a: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90;p16"/>
          <p:cNvSpPr/>
          <p:nvPr/>
        </p:nvSpPr>
        <p:spPr>
          <a:xfrm>
            <a:off x="0" y="0"/>
            <a:ext cx="29991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92680" y="403200"/>
            <a:ext cx="531432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Sélection des variables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96;p17"/>
          <p:cNvSpPr/>
          <p:nvPr/>
        </p:nvSpPr>
        <p:spPr>
          <a:xfrm rot="21244200">
            <a:off x="559080" y="13251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title"/>
          </p:nvPr>
        </p:nvSpPr>
        <p:spPr>
          <a:xfrm>
            <a:off x="992880" y="1075320"/>
            <a:ext cx="770868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Respecter la temporalité des variables pour éviter les fuites de données.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Google Shape;98;p17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99;p17"/>
          <p:cNvSpPr/>
          <p:nvPr/>
        </p:nvSpPr>
        <p:spPr>
          <a:xfrm>
            <a:off x="-90000" y="4796280"/>
            <a:ext cx="9143280" cy="25056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Google Shape;100;p17" descr="Enceinte Jeune Femme Clipart Photo stock libre - Public Domain ..."/>
          <p:cNvPicPr/>
          <p:nvPr/>
        </p:nvPicPr>
        <p:blipFill>
          <a:blip r:embed="rId2"/>
          <a:stretch/>
        </p:blipFill>
        <p:spPr>
          <a:xfrm>
            <a:off x="1396440" y="2523240"/>
            <a:ext cx="1470240" cy="1470240"/>
          </a:xfrm>
          <a:prstGeom prst="rect">
            <a:avLst/>
          </a:prstGeom>
          <a:ln w="0">
            <a:noFill/>
          </a:ln>
        </p:spPr>
      </p:pic>
      <p:pic>
        <p:nvPicPr>
          <p:cNvPr id="94" name="Google Shape;101;p17" descr=""/>
          <p:cNvPicPr/>
          <p:nvPr/>
        </p:nvPicPr>
        <p:blipFill>
          <a:blip r:embed="rId3"/>
          <a:stretch/>
        </p:blipFill>
        <p:spPr>
          <a:xfrm>
            <a:off x="3606840" y="2835000"/>
            <a:ext cx="1749960" cy="979560"/>
          </a:xfrm>
          <a:prstGeom prst="rect">
            <a:avLst/>
          </a:prstGeom>
          <a:ln w="0">
            <a:noFill/>
          </a:ln>
        </p:spPr>
      </p:pic>
      <p:pic>
        <p:nvPicPr>
          <p:cNvPr id="95" name="Google Shape;102;p17" descr=""/>
          <p:cNvPicPr/>
          <p:nvPr/>
        </p:nvPicPr>
        <p:blipFill>
          <a:blip r:embed="rId4"/>
          <a:stretch/>
        </p:blipFill>
        <p:spPr>
          <a:xfrm>
            <a:off x="6215760" y="2737800"/>
            <a:ext cx="2295000" cy="1284840"/>
          </a:xfrm>
          <a:prstGeom prst="rect">
            <a:avLst/>
          </a:prstGeom>
          <a:ln w="0">
            <a:noFill/>
          </a:ln>
        </p:spPr>
      </p:pic>
      <p:cxnSp>
        <p:nvCxnSpPr>
          <p:cNvPr id="96" name="Google Shape;103;p17"/>
          <p:cNvCxnSpPr/>
          <p:nvPr/>
        </p:nvCxnSpPr>
        <p:spPr>
          <a:xfrm flipV="1">
            <a:off x="1247040" y="4371480"/>
            <a:ext cx="6736320" cy="2232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triangle" w="med"/>
          </a:ln>
        </p:spPr>
      </p:cxnSp>
      <p:sp>
        <p:nvSpPr>
          <p:cNvPr id="97" name="PlaceHolder 3"/>
          <p:cNvSpPr>
            <a:spLocks noGrp="1"/>
          </p:cNvSpPr>
          <p:nvPr>
            <p:ph type="title"/>
          </p:nvPr>
        </p:nvSpPr>
        <p:spPr>
          <a:xfrm>
            <a:off x="992880" y="1761120"/>
            <a:ext cx="770868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—</a:t>
            </a: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&gt; Recherche des variables avant accouchement avec retour du statisticien et puissance des LLM avancés ( Chat-gpt o1 )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" name="Google Shape;105;p17"/>
          <p:cNvCxnSpPr/>
          <p:nvPr/>
        </p:nvCxnSpPr>
        <p:spPr>
          <a:xfrm flipH="1">
            <a:off x="3375000" y="4245480"/>
            <a:ext cx="7920" cy="38232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sp>
        <p:nvSpPr>
          <p:cNvPr id="99" name="Google Shape;106;p17"/>
          <p:cNvSpPr/>
          <p:nvPr/>
        </p:nvSpPr>
        <p:spPr>
          <a:xfrm>
            <a:off x="2177280" y="4589280"/>
            <a:ext cx="260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200" spc="-1" strike="noStrike">
                <a:solidFill>
                  <a:schemeClr val="dk2"/>
                </a:solidFill>
                <a:latin typeface="Arial"/>
                <a:ea typeface="Arial"/>
              </a:rPr>
              <a:t>Entrée en salle d’accouchement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0" name="Google Shape;107;p17"/>
          <p:cNvCxnSpPr/>
          <p:nvPr/>
        </p:nvCxnSpPr>
        <p:spPr>
          <a:xfrm flipH="1">
            <a:off x="5545440" y="4191480"/>
            <a:ext cx="7920" cy="38232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sp>
        <p:nvSpPr>
          <p:cNvPr id="101" name="Google Shape;108;p17"/>
          <p:cNvSpPr/>
          <p:nvPr/>
        </p:nvSpPr>
        <p:spPr>
          <a:xfrm>
            <a:off x="4844160" y="4589280"/>
            <a:ext cx="260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200" spc="-1" strike="noStrike">
                <a:solidFill>
                  <a:schemeClr val="dk2"/>
                </a:solidFill>
                <a:latin typeface="Arial"/>
                <a:ea typeface="Arial"/>
              </a:rPr>
              <a:t>Naissance du bébé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09;p17"/>
          <p:cNvSpPr/>
          <p:nvPr/>
        </p:nvSpPr>
        <p:spPr>
          <a:xfrm>
            <a:off x="1130040" y="4101480"/>
            <a:ext cx="2244960" cy="58644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14;p18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104" name="Google Shape;115;p18"/>
          <p:cNvSpPr/>
          <p:nvPr/>
        </p:nvSpPr>
        <p:spPr>
          <a:xfrm>
            <a:off x="10080" y="4892040"/>
            <a:ext cx="9143280" cy="25056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Google Shape;116;p18" descr=""/>
          <p:cNvPicPr/>
          <p:nvPr/>
        </p:nvPicPr>
        <p:blipFill>
          <a:blip r:embed="rId2"/>
          <a:stretch/>
        </p:blipFill>
        <p:spPr>
          <a:xfrm>
            <a:off x="412200" y="1670040"/>
            <a:ext cx="3833280" cy="3449880"/>
          </a:xfrm>
          <a:prstGeom prst="rect">
            <a:avLst/>
          </a:prstGeom>
          <a:ln w="0">
            <a:noFill/>
          </a:ln>
        </p:spPr>
      </p:pic>
      <p:pic>
        <p:nvPicPr>
          <p:cNvPr id="106" name="Google Shape;117;p18" descr=""/>
          <p:cNvPicPr/>
          <p:nvPr/>
        </p:nvPicPr>
        <p:blipFill>
          <a:blip r:embed="rId3"/>
          <a:stretch/>
        </p:blipFill>
        <p:spPr>
          <a:xfrm>
            <a:off x="4694760" y="1940400"/>
            <a:ext cx="4318200" cy="2773440"/>
          </a:xfrm>
          <a:prstGeom prst="rect">
            <a:avLst/>
          </a:prstGeom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92680" y="403200"/>
            <a:ext cx="769212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Dataset fortement déséquilibré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19;p18"/>
          <p:cNvSpPr/>
          <p:nvPr/>
        </p:nvSpPr>
        <p:spPr>
          <a:xfrm rot="21244200">
            <a:off x="406800" y="13251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863640" y="1084320"/>
            <a:ext cx="846756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800" spc="-1" strike="noStrike">
                <a:solidFill>
                  <a:srgbClr val="4b5258"/>
                </a:solidFill>
                <a:latin typeface="Inter"/>
                <a:ea typeface="Inter"/>
              </a:rPr>
              <a:t>Techniques de resampling (SMOTE,SMOTEENN,RandomUnderSampling,...)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4" dur="indefinite" restart="never" nodeType="tmRoot">
          <p:childTnLst>
            <p:seq>
              <p:cTn id="115" dur="indefinite" nodeType="mainSeq">
                <p:childTnLst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25;p19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111" name="Google Shape;126;p19"/>
          <p:cNvSpPr/>
          <p:nvPr/>
        </p:nvSpPr>
        <p:spPr>
          <a:xfrm>
            <a:off x="1192680" y="403200"/>
            <a:ext cx="53143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Comment évaluer les modèles ?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27;p19"/>
          <p:cNvSpPr/>
          <p:nvPr/>
        </p:nvSpPr>
        <p:spPr>
          <a:xfrm>
            <a:off x="0" y="0"/>
            <a:ext cx="29991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128;p19"/>
          <p:cNvSpPr/>
          <p:nvPr/>
        </p:nvSpPr>
        <p:spPr>
          <a:xfrm rot="21244200">
            <a:off x="559080" y="17823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092240" y="1541520"/>
            <a:ext cx="531432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3 modèles LR, RF, XGB pour classification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30;p19"/>
          <p:cNvSpPr/>
          <p:nvPr/>
        </p:nvSpPr>
        <p:spPr>
          <a:xfrm rot="21244200">
            <a:off x="559080" y="231588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1092240" y="2075040"/>
            <a:ext cx="795420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F1-score avec point d’attention pour le Recall ( Pathologie grave)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Google Shape;132;p19" descr=""/>
          <p:cNvPicPr/>
          <p:nvPr/>
        </p:nvPicPr>
        <p:blipFill>
          <a:blip r:embed="rId2"/>
          <a:stretch/>
        </p:blipFill>
        <p:spPr>
          <a:xfrm>
            <a:off x="2463840" y="2626560"/>
            <a:ext cx="4759920" cy="2158200"/>
          </a:xfrm>
          <a:prstGeom prst="rect">
            <a:avLst/>
          </a:prstGeom>
          <a:ln w="0">
            <a:noFill/>
          </a:ln>
        </p:spPr>
      </p:pic>
      <p:sp>
        <p:nvSpPr>
          <p:cNvPr id="118" name="Google Shape;133;p19"/>
          <p:cNvSpPr/>
          <p:nvPr/>
        </p:nvSpPr>
        <p:spPr>
          <a:xfrm rot="21244200">
            <a:off x="559080" y="124884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1092240" y="1008000"/>
            <a:ext cx="788148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Variable cible (2 classes) -&gt; probabilité de HPP sévère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7" dur="indefinite" restart="never" nodeType="tmRoot">
          <p:childTnLst>
            <p:seq>
              <p:cTn id="128" dur="indefinite" nodeType="mainSeq">
                <p:childTnLst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39;p20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121" name="Google Shape;140;p20"/>
          <p:cNvSpPr/>
          <p:nvPr/>
        </p:nvSpPr>
        <p:spPr>
          <a:xfrm>
            <a:off x="1192680" y="403200"/>
            <a:ext cx="651096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Suivi Mlflow (Docker / Hugging Face):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141;p20"/>
          <p:cNvSpPr/>
          <p:nvPr/>
        </p:nvSpPr>
        <p:spPr>
          <a:xfrm>
            <a:off x="0" y="0"/>
            <a:ext cx="29991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Google Shape;142;p20" descr=""/>
          <p:cNvPicPr/>
          <p:nvPr/>
        </p:nvPicPr>
        <p:blipFill>
          <a:blip r:embed="rId2"/>
          <a:stretch/>
        </p:blipFill>
        <p:spPr>
          <a:xfrm>
            <a:off x="3525480" y="1388160"/>
            <a:ext cx="5502240" cy="3111840"/>
          </a:xfrm>
          <a:prstGeom prst="rect">
            <a:avLst/>
          </a:prstGeom>
          <a:ln w="0">
            <a:noFill/>
          </a:ln>
        </p:spPr>
      </p:pic>
      <p:sp>
        <p:nvSpPr>
          <p:cNvPr id="124" name="Google Shape;143;p20"/>
          <p:cNvSpPr/>
          <p:nvPr/>
        </p:nvSpPr>
        <p:spPr>
          <a:xfrm rot="21244200">
            <a:off x="559080" y="15537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92880" y="1303920"/>
            <a:ext cx="253224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Créer un s3 bucket et une BDD SQL pour le backend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145;p20"/>
          <p:cNvSpPr/>
          <p:nvPr/>
        </p:nvSpPr>
        <p:spPr>
          <a:xfrm rot="21244200">
            <a:off x="559080" y="239184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title"/>
          </p:nvPr>
        </p:nvSpPr>
        <p:spPr>
          <a:xfrm>
            <a:off x="992880" y="2191320"/>
            <a:ext cx="253224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Pousser Dockerfile et Requirements.txt sur HgF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147;p20"/>
          <p:cNvSpPr/>
          <p:nvPr/>
        </p:nvSpPr>
        <p:spPr>
          <a:xfrm rot="21244200">
            <a:off x="559080" y="323028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title"/>
          </p:nvPr>
        </p:nvSpPr>
        <p:spPr>
          <a:xfrm>
            <a:off x="1040400" y="3006720"/>
            <a:ext cx="248436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Paramétrer les variables d’environnement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149;p20"/>
          <p:cNvSpPr/>
          <p:nvPr/>
        </p:nvSpPr>
        <p:spPr>
          <a:xfrm rot="21244200">
            <a:off x="559080" y="414468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title"/>
          </p:nvPr>
        </p:nvSpPr>
        <p:spPr>
          <a:xfrm>
            <a:off x="1040400" y="3921120"/>
            <a:ext cx="248436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Créer des run mlflow dans les tests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9" dur="indefinite" restart="never" nodeType="tmRoot">
          <p:childTnLst>
            <p:seq>
              <p:cTn id="150" dur="indefinite" nodeType="mainSeq">
                <p:childTnLst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9143640" cy="395640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33" name="Rounded Rectangle 2"/>
          <p:cNvSpPr/>
          <p:nvPr/>
        </p:nvSpPr>
        <p:spPr>
          <a:xfrm>
            <a:off x="1192680" y="403200"/>
            <a:ext cx="6510960" cy="53244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2200" spc="-1" strike="noStrike">
                <a:solidFill>
                  <a:srgbClr val="ffffff"/>
                </a:solidFill>
                <a:latin typeface="Arial"/>
              </a:rPr>
              <a:t>Architecture MLOps (Docker / Hugging Face)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2480040" y="1000080"/>
            <a:ext cx="4239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1400" spc="-1" strike="noStrike">
                <a:solidFill>
                  <a:srgbClr val="5a6e78"/>
                </a:solidFill>
                <a:latin typeface="Calibri"/>
              </a:rPr>
              <a:t>Schéma de bout en bout — après le suivi MLflow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ounded Rectangle 4"/>
          <p:cNvSpPr/>
          <p:nvPr/>
        </p:nvSpPr>
        <p:spPr>
          <a:xfrm>
            <a:off x="500040" y="1500120"/>
            <a:ext cx="1999800" cy="719640"/>
          </a:xfrm>
          <a:prstGeom prst="roundRect">
            <a:avLst>
              <a:gd name="adj" fmla="val 16667"/>
            </a:avLst>
          </a:prstGeom>
          <a:solidFill>
            <a:srgbClr val="144a5e"/>
          </a:solidFill>
          <a:ln w="19050">
            <a:solidFill>
              <a:srgbClr val="3fdad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15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Données</a:t>
            </a:r>
            <a:br>
              <a:rPr sz="1300"/>
            </a:b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anonymisées</a:t>
            </a:r>
            <a:br>
              <a:rPr sz="1300"/>
            </a:b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(maternité)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ight Arrow 5"/>
          <p:cNvSpPr/>
          <p:nvPr/>
        </p:nvSpPr>
        <p:spPr>
          <a:xfrm>
            <a:off x="2520000" y="1800000"/>
            <a:ext cx="279720" cy="79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5040" bIns="-5040" anchor="ctr">
            <a:noAutofit/>
          </a:bodyPr>
          <a:p>
            <a:pPr algn="ctr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37" name="Rounded Rectangle 6"/>
          <p:cNvSpPr/>
          <p:nvPr/>
        </p:nvSpPr>
        <p:spPr>
          <a:xfrm>
            <a:off x="2819880" y="1500120"/>
            <a:ext cx="1999800" cy="719640"/>
          </a:xfrm>
          <a:prstGeom prst="roundRect">
            <a:avLst>
              <a:gd name="adj" fmla="val 16667"/>
            </a:avLst>
          </a:prstGeom>
          <a:solidFill>
            <a:srgbClr val="144a5e"/>
          </a:solidFill>
          <a:ln w="19050">
            <a:solidFill>
              <a:srgbClr val="3fdad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15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Notebooks</a:t>
            </a:r>
            <a:br>
              <a:rPr sz="1300"/>
            </a:b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LR / RF / XGB</a:t>
            </a:r>
            <a:br>
              <a:rPr sz="1300"/>
            </a:b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+ resampling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ight Arrow 7"/>
          <p:cNvSpPr/>
          <p:nvPr/>
        </p:nvSpPr>
        <p:spPr>
          <a:xfrm>
            <a:off x="4839840" y="1800000"/>
            <a:ext cx="279720" cy="79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5040" bIns="-5040" anchor="ctr">
            <a:noAutofit/>
          </a:bodyPr>
          <a:p>
            <a:pPr algn="ctr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39" name="Rounded Rectangle 8"/>
          <p:cNvSpPr/>
          <p:nvPr/>
        </p:nvSpPr>
        <p:spPr>
          <a:xfrm>
            <a:off x="5140080" y="1500120"/>
            <a:ext cx="1999800" cy="719640"/>
          </a:xfrm>
          <a:prstGeom prst="roundRect">
            <a:avLst>
              <a:gd name="adj" fmla="val 16667"/>
            </a:avLst>
          </a:prstGeom>
          <a:solidFill>
            <a:srgbClr val="144a5e"/>
          </a:solidFill>
          <a:ln w="19050">
            <a:solidFill>
              <a:srgbClr val="3fdad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15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200" spc="-1" strike="noStrike">
                <a:solidFill>
                  <a:srgbClr val="ffffff"/>
                </a:solidFill>
                <a:latin typeface="Arial"/>
              </a:rPr>
              <a:t>MLflow Tracking</a:t>
            </a:r>
            <a:br>
              <a:rPr sz="1200"/>
            </a:br>
            <a:r>
              <a:rPr b="1" lang="fr-FR" sz="1200" spc="-1" strike="noStrike">
                <a:solidFill>
                  <a:srgbClr val="ffffff"/>
                </a:solidFill>
                <a:latin typeface="Arial"/>
              </a:rPr>
              <a:t>Docker · HF Space</a:t>
            </a:r>
            <a:br>
              <a:rPr sz="1200"/>
            </a:br>
            <a:r>
              <a:rPr b="1" lang="fr-FR" sz="1200" spc="-1" strike="noStrike">
                <a:solidFill>
                  <a:srgbClr val="ffffff"/>
                </a:solidFill>
                <a:latin typeface="Arial"/>
              </a:rPr>
              <a:t>S3 + SQL backend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Down Arrow 9"/>
          <p:cNvSpPr/>
          <p:nvPr/>
        </p:nvSpPr>
        <p:spPr>
          <a:xfrm>
            <a:off x="6099840" y="2260080"/>
            <a:ext cx="79560" cy="219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41" name="Rounded Rectangle 10"/>
          <p:cNvSpPr/>
          <p:nvPr/>
        </p:nvSpPr>
        <p:spPr>
          <a:xfrm>
            <a:off x="2819880" y="2679840"/>
            <a:ext cx="1999800" cy="719640"/>
          </a:xfrm>
          <a:prstGeom prst="roundRect">
            <a:avLst>
              <a:gd name="adj" fmla="val 16667"/>
            </a:avLst>
          </a:prstGeom>
          <a:solidFill>
            <a:srgbClr val="0e3449"/>
          </a:solidFill>
          <a:ln w="19050">
            <a:solidFill>
              <a:srgbClr val="3fdad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15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Artefact modèle</a:t>
            </a:r>
            <a:br>
              <a:rPr sz="1300"/>
            </a:b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(.joblib / pipeline)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ight Arrow 11"/>
          <p:cNvSpPr/>
          <p:nvPr/>
        </p:nvSpPr>
        <p:spPr>
          <a:xfrm>
            <a:off x="4839840" y="2980080"/>
            <a:ext cx="279720" cy="79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f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5040" bIns="-5040" anchor="ctr">
            <a:noAutofit/>
          </a:bodyPr>
          <a:p>
            <a:pPr algn="ctr">
              <a:lnSpc>
                <a:spcPct val="100000"/>
              </a:lnSpc>
            </a:pPr>
            <a:endParaRPr b="0" lang="fr-F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43" name="Rounded Rectangle 12"/>
          <p:cNvSpPr/>
          <p:nvPr/>
        </p:nvSpPr>
        <p:spPr>
          <a:xfrm>
            <a:off x="5140080" y="2679840"/>
            <a:ext cx="1999800" cy="719640"/>
          </a:xfrm>
          <a:prstGeom prst="roundRect">
            <a:avLst>
              <a:gd name="adj" fmla="val 16667"/>
            </a:avLst>
          </a:prstGeom>
          <a:solidFill>
            <a:srgbClr val="144a5e"/>
          </a:solidFill>
          <a:ln w="19050">
            <a:solidFill>
              <a:srgbClr val="3fdad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0152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POC Streamlit</a:t>
            </a:r>
            <a:br>
              <a:rPr sz="1300"/>
            </a:b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HF Space online</a:t>
            </a:r>
            <a:br>
              <a:rPr sz="1300"/>
            </a:br>
            <a:r>
              <a:rPr b="1" lang="fr-FR" sz="1300" spc="-1" strike="noStrike">
                <a:solidFill>
                  <a:srgbClr val="ffffff"/>
                </a:solidFill>
                <a:latin typeface="Arial"/>
              </a:rPr>
              <a:t>(+ run local)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ounded Rectangle 13"/>
          <p:cNvSpPr/>
          <p:nvPr/>
        </p:nvSpPr>
        <p:spPr>
          <a:xfrm>
            <a:off x="500040" y="2679840"/>
            <a:ext cx="1999800" cy="719640"/>
          </a:xfrm>
          <a:prstGeom prst="roundRect">
            <a:avLst>
              <a:gd name="adj" fmla="val 16667"/>
            </a:avLst>
          </a:prstGeom>
          <a:solidFill>
            <a:srgbClr val="e8f6f5"/>
          </a:solidFill>
          <a:ln>
            <a:solidFill>
              <a:srgbClr val="3fdad2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fr-FR" sz="1300" spc="-1" strike="noStrike">
                <a:solidFill>
                  <a:srgbClr val="0e3449"/>
                </a:solidFill>
                <a:latin typeface="Arial"/>
              </a:rPr>
              <a:t>Pourquoi ?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100" spc="-1" strike="noStrike">
                <a:solidFill>
                  <a:srgbClr val="1a2a33"/>
                </a:solidFill>
                <a:latin typeface="Calibri"/>
              </a:rPr>
              <a:t>Reproductibilité des runs</a:t>
            </a:r>
            <a:br>
              <a:rPr sz="1100"/>
            </a:br>
            <a:r>
              <a:rPr b="0" lang="fr-FR" sz="1100" spc="-1" strike="noStrike">
                <a:solidFill>
                  <a:srgbClr val="1a2a33"/>
                </a:solidFill>
                <a:latin typeface="Calibri"/>
              </a:rPr>
              <a:t>+ démo soignants sans code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14"/>
          <p:cNvSpPr/>
          <p:nvPr/>
        </p:nvSpPr>
        <p:spPr>
          <a:xfrm>
            <a:off x="1828440" y="4600080"/>
            <a:ext cx="5542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fr-FR" sz="1200" spc="-1" strike="noStrike">
                <a:solidFill>
                  <a:srgbClr val="5a6e78"/>
                </a:solidFill>
                <a:latin typeface="Calibri"/>
              </a:rPr>
              <a:t>Entrainement → tracking MLflow (Docker/HF) → déploiement POC Streamlit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55;p21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147" name="Google Shape;156;p21"/>
          <p:cNvSpPr/>
          <p:nvPr/>
        </p:nvSpPr>
        <p:spPr>
          <a:xfrm>
            <a:off x="1192680" y="403200"/>
            <a:ext cx="53143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Résultats ?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157;p21"/>
          <p:cNvSpPr/>
          <p:nvPr/>
        </p:nvSpPr>
        <p:spPr>
          <a:xfrm>
            <a:off x="0" y="0"/>
            <a:ext cx="29991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158;p21"/>
          <p:cNvSpPr/>
          <p:nvPr/>
        </p:nvSpPr>
        <p:spPr>
          <a:xfrm rot="21244200">
            <a:off x="559080" y="13251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092240" y="1084320"/>
            <a:ext cx="531432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Score trop faible pour application terrain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Google Shape;160;p21" descr=""/>
          <p:cNvPicPr/>
          <p:nvPr/>
        </p:nvPicPr>
        <p:blipFill>
          <a:blip r:embed="rId2"/>
          <a:stretch/>
        </p:blipFill>
        <p:spPr>
          <a:xfrm>
            <a:off x="1649160" y="1637640"/>
            <a:ext cx="5797440" cy="3309120"/>
          </a:xfrm>
          <a:prstGeom prst="rect">
            <a:avLst/>
          </a:prstGeom>
          <a:ln w="0">
            <a:noFill/>
          </a:ln>
        </p:spPr>
      </p:pic>
      <p:sp>
        <p:nvSpPr>
          <p:cNvPr id="152" name="Google Shape;161;p21"/>
          <p:cNvSpPr/>
          <p:nvPr/>
        </p:nvSpPr>
        <p:spPr>
          <a:xfrm>
            <a:off x="117360" y="2788200"/>
            <a:ext cx="18921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300" spc="-1" strike="noStrike">
                <a:solidFill>
                  <a:schemeClr val="dk2"/>
                </a:solidFill>
                <a:latin typeface="Arial"/>
                <a:ea typeface="Arial"/>
              </a:rPr>
              <a:t>XGB Classifier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5" dur="indefinite" restart="never" nodeType="tmRoot">
          <p:childTnLst>
            <p:seq>
              <p:cTn id="176" dur="indefinite" nodeType="mainSeq">
                <p:childTnLst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1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4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7" dur="37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0" dur="39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192680" y="403200"/>
            <a:ext cx="711972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Déploiement du modèle ( POC )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Google Shape;167;p22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155" name="Google Shape;168;p22"/>
          <p:cNvSpPr/>
          <p:nvPr/>
        </p:nvSpPr>
        <p:spPr>
          <a:xfrm>
            <a:off x="10080" y="4892040"/>
            <a:ext cx="9143280" cy="25056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Google Shape;169;p22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4804200" y="1130040"/>
            <a:ext cx="3289320" cy="3724560"/>
          </a:xfrm>
          <a:prstGeom prst="rect">
            <a:avLst/>
          </a:prstGeom>
          <a:ln w="0">
            <a:noFill/>
          </a:ln>
        </p:spPr>
      </p:pic>
      <p:sp>
        <p:nvSpPr>
          <p:cNvPr id="157" name="Google Shape;170;p22"/>
          <p:cNvSpPr/>
          <p:nvPr/>
        </p:nvSpPr>
        <p:spPr>
          <a:xfrm rot="21244200">
            <a:off x="559080" y="254448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915840" y="2341440"/>
            <a:ext cx="3772440" cy="177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Gestion des manquants : dropna() sur le dataset et pas d’imputation dans le  preprocess intégré à la pipeline du modèle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—</a:t>
            </a: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&gt; Toutes les variables utilisés pour l'entraînement du modèle doivent être complétées par l’utilisateur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172;p22"/>
          <p:cNvSpPr/>
          <p:nvPr/>
        </p:nvSpPr>
        <p:spPr>
          <a:xfrm rot="21244200">
            <a:off x="559080" y="147744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title"/>
          </p:nvPr>
        </p:nvSpPr>
        <p:spPr>
          <a:xfrm>
            <a:off x="915840" y="1274400"/>
            <a:ext cx="3772440" cy="91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500" spc="-1" strike="noStrike">
                <a:solidFill>
                  <a:srgbClr val="4b5258"/>
                </a:solidFill>
                <a:latin typeface="Inter Medium"/>
                <a:ea typeface="Inter Medium"/>
              </a:rPr>
              <a:t>DockerFile + requirements.txt+ app.py → Build → Run en local avec binding pour débogage interactif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8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192680" y="403200"/>
            <a:ext cx="531432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Récapitulatif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179;p23"/>
          <p:cNvSpPr/>
          <p:nvPr/>
        </p:nvSpPr>
        <p:spPr>
          <a:xfrm rot="21244200">
            <a:off x="559080" y="14799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title"/>
          </p:nvPr>
        </p:nvSpPr>
        <p:spPr>
          <a:xfrm>
            <a:off x="992880" y="1250640"/>
            <a:ext cx="770868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Définition de la variable cible à partir du rapport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Google Shape;181;p23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165" name="Google Shape;182;p23"/>
          <p:cNvSpPr/>
          <p:nvPr/>
        </p:nvSpPr>
        <p:spPr>
          <a:xfrm>
            <a:off x="-90000" y="4796280"/>
            <a:ext cx="9143280" cy="250560"/>
          </a:xfrm>
          <a:prstGeom prst="rect">
            <a:avLst/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title"/>
          </p:nvPr>
        </p:nvSpPr>
        <p:spPr>
          <a:xfrm>
            <a:off x="992880" y="1890360"/>
            <a:ext cx="770868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Sélection des variables en veillant au Data leakage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Google Shape;184;p23"/>
          <p:cNvSpPr/>
          <p:nvPr/>
        </p:nvSpPr>
        <p:spPr>
          <a:xfrm rot="21244200">
            <a:off x="559080" y="215352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title"/>
          </p:nvPr>
        </p:nvSpPr>
        <p:spPr>
          <a:xfrm>
            <a:off x="992880" y="2543400"/>
            <a:ext cx="770868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Modélisation en utilisant des techniques de resampling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186;p23"/>
          <p:cNvSpPr/>
          <p:nvPr/>
        </p:nvSpPr>
        <p:spPr>
          <a:xfrm rot="21244200">
            <a:off x="559080" y="27507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 type="title"/>
          </p:nvPr>
        </p:nvSpPr>
        <p:spPr>
          <a:xfrm>
            <a:off x="992880" y="3194640"/>
            <a:ext cx="7708680" cy="86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Suivi avec un tableau de bord MlFlow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188;p23"/>
          <p:cNvSpPr/>
          <p:nvPr/>
        </p:nvSpPr>
        <p:spPr>
          <a:xfrm rot="21244200">
            <a:off x="559080" y="343944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 type="title"/>
          </p:nvPr>
        </p:nvSpPr>
        <p:spPr>
          <a:xfrm>
            <a:off x="992880" y="3827520"/>
            <a:ext cx="7708680" cy="86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 Medium"/>
                <a:ea typeface="Inter Medium"/>
              </a:rPr>
              <a:t>Construction d’une application Streamlit (POC)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190;p23"/>
          <p:cNvSpPr/>
          <p:nvPr/>
        </p:nvSpPr>
        <p:spPr>
          <a:xfrm rot="21244200">
            <a:off x="527040" y="40773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9" dur="indefinite" restart="never" nodeType="tmRoot">
          <p:childTnLst>
            <p:seq>
              <p:cTn id="220" dur="indefinite" nodeType="mainSeq">
                <p:childTnLst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95;p24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85200"/>
          </a:xfrm>
          <a:prstGeom prst="rect">
            <a:avLst/>
          </a:prstGeom>
          <a:ln w="0">
            <a:noFill/>
          </a:ln>
        </p:spPr>
      </p:pic>
      <p:sp>
        <p:nvSpPr>
          <p:cNvPr id="175" name="Google Shape;196;p24"/>
          <p:cNvSpPr/>
          <p:nvPr/>
        </p:nvSpPr>
        <p:spPr>
          <a:xfrm>
            <a:off x="1192680" y="403200"/>
            <a:ext cx="531432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2500" spc="-1" strike="noStrike">
                <a:solidFill>
                  <a:srgbClr val="0e3449"/>
                </a:solidFill>
                <a:latin typeface="Inter SemiBold"/>
                <a:ea typeface="Inter SemiBold"/>
              </a:rPr>
              <a:t>Perspectives :</a:t>
            </a:r>
            <a:endParaRPr b="0" lang="fr-F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Google Shape;197;p24"/>
          <p:cNvSpPr/>
          <p:nvPr/>
        </p:nvSpPr>
        <p:spPr>
          <a:xfrm>
            <a:off x="0" y="0"/>
            <a:ext cx="29991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fr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198;p24"/>
          <p:cNvSpPr/>
          <p:nvPr/>
        </p:nvSpPr>
        <p:spPr>
          <a:xfrm rot="21244200">
            <a:off x="559080" y="163008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092240" y="1389240"/>
            <a:ext cx="824796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Définir clairement le cadre du projet avec les spécialistes Métier 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200;p24"/>
          <p:cNvSpPr/>
          <p:nvPr/>
        </p:nvSpPr>
        <p:spPr>
          <a:xfrm rot="21244200">
            <a:off x="559080" y="24681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title"/>
          </p:nvPr>
        </p:nvSpPr>
        <p:spPr>
          <a:xfrm>
            <a:off x="1092240" y="2227320"/>
            <a:ext cx="781488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Feature Selection en s’appuyant sur les études cliniques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202;p24"/>
          <p:cNvSpPr/>
          <p:nvPr/>
        </p:nvSpPr>
        <p:spPr>
          <a:xfrm rot="21244200">
            <a:off x="559080" y="330624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title"/>
          </p:nvPr>
        </p:nvSpPr>
        <p:spPr>
          <a:xfrm>
            <a:off x="1092240" y="3065400"/>
            <a:ext cx="531432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Centraliser données de toutes la France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204;p24"/>
          <p:cNvSpPr/>
          <p:nvPr/>
        </p:nvSpPr>
        <p:spPr>
          <a:xfrm rot="21244200">
            <a:off x="559080" y="4068360"/>
            <a:ext cx="260640" cy="46080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title"/>
          </p:nvPr>
        </p:nvSpPr>
        <p:spPr>
          <a:xfrm>
            <a:off x="1092240" y="3827520"/>
            <a:ext cx="5314320" cy="68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000" spc="-1" strike="noStrike">
                <a:solidFill>
                  <a:srgbClr val="4b5258"/>
                </a:solidFill>
                <a:latin typeface="Inter"/>
                <a:ea typeface="Inter"/>
              </a:rPr>
              <a:t>Mise en place d’un pipeline automatisé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1" dur="indefinite" restart="never" nodeType="tmRoot">
          <p:childTnLst>
            <p:seq>
              <p:cTn id="252" dur="indefinite" nodeType="mainSeq">
                <p:childTnLst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5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757520" y="767880"/>
            <a:ext cx="6361920" cy="318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3200" spc="-1" strike="noStrike">
                <a:solidFill>
                  <a:srgbClr val="ffffff"/>
                </a:solidFill>
                <a:latin typeface="Libre Baskerville"/>
                <a:ea typeface="Libre Baskerville"/>
              </a:rPr>
              <a:t>À votre écoute pour vos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3200" spc="-1" strike="noStrike">
                <a:solidFill>
                  <a:srgbClr val="ffffff"/>
                </a:solidFill>
                <a:latin typeface="Libre Baskerville"/>
                <a:ea typeface="Libre Baskerville"/>
              </a:rPr>
              <a:t> </a:t>
            </a:r>
            <a:r>
              <a:rPr b="0" lang="fr" sz="3200" spc="-1" strike="noStrike">
                <a:solidFill>
                  <a:srgbClr val="ffffff"/>
                </a:solidFill>
                <a:latin typeface="Libre Baskerville"/>
                <a:ea typeface="Libre Baskerville"/>
              </a:rPr>
              <a:t>Questions !</a:t>
            </a:r>
            <a:endParaRPr b="0" lang="fr-FR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6" name="Google Shape;211;p25" descr=""/>
          <p:cNvPicPr/>
          <p:nvPr/>
        </p:nvPicPr>
        <p:blipFill>
          <a:blip r:embed="rId1"/>
          <a:stretch/>
        </p:blipFill>
        <p:spPr>
          <a:xfrm>
            <a:off x="463320" y="482760"/>
            <a:ext cx="576360" cy="392040"/>
          </a:xfrm>
          <a:prstGeom prst="rect">
            <a:avLst/>
          </a:prstGeom>
          <a:ln w="0">
            <a:noFill/>
          </a:ln>
        </p:spPr>
      </p:pic>
      <p:sp>
        <p:nvSpPr>
          <p:cNvPr id="187" name="Rectangle 211"/>
          <p:cNvSpPr/>
          <p:nvPr/>
        </p:nvSpPr>
        <p:spPr>
          <a:xfrm>
            <a:off x="0" y="0"/>
            <a:ext cx="9143280" cy="255240"/>
          </a:xfrm>
          <a:prstGeom prst="rect">
            <a:avLst/>
          </a:prstGeom>
          <a:solidFill>
            <a:srgbClr val="3fda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fr-FR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88" name="TextBox 212"/>
          <p:cNvSpPr/>
          <p:nvPr/>
        </p:nvSpPr>
        <p:spPr>
          <a:xfrm>
            <a:off x="2638080" y="27360"/>
            <a:ext cx="3867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fr-FR" sz="1100" spc="-1" strike="noStrike">
                <a:solidFill>
                  <a:srgbClr val="0e3449"/>
                </a:solidFill>
                <a:latin typeface="Calibri"/>
                <a:ea typeface="Arial"/>
              </a:rPr>
              <a:t>BLOC 6  ·  RNCP35288  ·  Soutenance projet data A → Z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dcterms:modified xsi:type="dcterms:W3CDTF">2026-08-04T22:49:30Z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