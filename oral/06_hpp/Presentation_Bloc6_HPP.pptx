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70" r:id="rId28"/>
    <p:sldId id="265" r:id="rId22"/>
    <p:sldId id="266" r:id="rId23"/>
    <p:sldId id="267" r:id="rId24"/>
    <p:sldId id="268" r:id="rId25"/>
    <p:sldId id="269" r:id="rId2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<Relationship Id="rId28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EBF78ED-6D37-4F5D-B590-8C48FC9D20E4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E747D8-7873-40CB-992E-4194B0D9AAF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7A1ACD-F0FF-4E91-81CF-8FD906288BBA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AAC7FBD-C0A0-4D73-AE6E-478293A7057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F048A76-D48B-4193-A64E-E7DA069815B1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3C9F1E-5AF7-4582-BF7C-74A5ACED119A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CFDF28A-4D8E-4E00-874D-5024ACC6291B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BBD3A1C-9AE2-44B6-B435-78A52157BD56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74A3863-CDE2-4BEA-A88F-C0D0152242EA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B32BDC8-94C8-4101-888B-5A31495D32D4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2D4ED68-29BA-4039-8B3B-44D64C1997AF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fr-FR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D36FAA-8E7E-4DF6-A389-2520148A4FC5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14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fr-FR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5C3245-3043-4CBB-BB8D-A9A2190D2945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667D7C-1F04-42E8-9764-AE2054672578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6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fr-FR" sz="36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fr-FR" sz="36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fr-FR" sz="36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fr-FR" sz="36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fr-FR" sz="36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F7A056-23B3-4535-A276-4C7F017C7E29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890B2B-7C5D-417A-8F3E-086D5B0D2FB7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4BF249-025D-45F8-83D1-1ADF1B001F56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1D5E42-962D-4415-B82E-99AD9440FA3E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226139-A372-4DE2-ACB0-41250D478E8A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690279-6ADA-497C-8B4D-2E9EC2ED90AA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269030-F1ED-4B85-8561-779FA9D3AF9C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3CDEC8-D3F3-485F-BBBD-423A74BBAD7D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8.jpeg"/><Relationship Id="rId4" Type="http://schemas.openxmlformats.org/officeDocument/2006/relationships/image" Target="../media/image9.jpeg"/><Relationship Id="rId5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://drive.google.com/file/d/1puCYTIcqr05liPzfP14S1m7QVcDvLNHa/view" TargetMode="External"/><Relationship Id="rId3" Type="http://schemas.openxmlformats.org/officeDocument/2006/relationships/image" Target="../media/image15.jpeg"/><Relationship Id="rId4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fda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263600" y="1343160"/>
            <a:ext cx="6477840" cy="21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40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Prédiction de l’Hémorragie Post partum sévère 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Google Shape;55;p13" descr=""/>
          <p:cNvPicPr/>
          <p:nvPr/>
        </p:nvPicPr>
        <p:blipFill>
          <a:blip r:embed="rId1"/>
          <a:stretch/>
        </p:blipFill>
        <p:spPr>
          <a:xfrm>
            <a:off x="840600" y="787320"/>
            <a:ext cx="973080" cy="650520"/>
          </a:xfrm>
          <a:prstGeom prst="rect">
            <a:avLst/>
          </a:prstGeom>
          <a:ln w="0">
            <a:noFill/>
          </a:ln>
        </p:spPr>
      </p:pic>
      <p:pic>
        <p:nvPicPr>
          <p:cNvPr id="41" name="Google Shape;56;p13" descr="Fichier:Hermaphrodite symbol.svg — Wikipédia"/>
          <p:cNvPicPr/>
          <p:nvPr/>
        </p:nvPicPr>
        <p:blipFill>
          <a:blip r:embed="rId2"/>
          <a:stretch/>
        </p:blipFill>
        <p:spPr>
          <a:xfrm>
            <a:off x="6343200" y="3117240"/>
            <a:ext cx="1479240" cy="1479240"/>
          </a:xfrm>
          <a:prstGeom prst="rect">
            <a:avLst/>
          </a:prstGeom>
          <a:ln w="0">
            <a:noFill/>
          </a:ln>
        </p:spPr>
      </p:pic>
      <p:sp>
        <p:nvSpPr>
          <p:cNvPr id="42" name="Rectangle 56"/>
          <p:cNvSpPr/>
          <p:nvPr/>
        </p:nvSpPr>
        <p:spPr>
          <a:xfrm>
            <a:off x="0" y="0"/>
            <a:ext cx="9143640" cy="292320"/>
          </a:xfrm>
          <a:prstGeom prst="rect">
            <a:avLst/>
          </a:prstGeom>
          <a:solidFill>
            <a:srgbClr val="3fd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43" name="TextBox 57"/>
          <p:cNvSpPr/>
          <p:nvPr/>
        </p:nvSpPr>
        <p:spPr>
          <a:xfrm>
            <a:off x="2163960" y="36720"/>
            <a:ext cx="481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100" spc="-1" strike="noStrike">
                <a:solidFill>
                  <a:srgbClr val="0e3449"/>
                </a:solidFill>
                <a:latin typeface="Calibri"/>
                <a:ea typeface="Arial"/>
              </a:rPr>
              <a:t>BLOC 6  ·  RNCP35288  ·  Direction de projets de gestion de données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8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45" name="Rectangle 2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3fd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46" name="TextBox 3"/>
          <p:cNvSpPr/>
          <p:nvPr/>
        </p:nvSpPr>
        <p:spPr>
          <a:xfrm>
            <a:off x="2500920" y="164520"/>
            <a:ext cx="4141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200" spc="-1" strike="noStrike">
                <a:solidFill>
                  <a:srgbClr val="0e3449"/>
                </a:solidFill>
                <a:latin typeface="Arial"/>
                <a:ea typeface="Arial"/>
              </a:rPr>
              <a:t>Compétences RNCP — Bloc 6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2640240" y="475560"/>
            <a:ext cx="386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fr-FR" sz="1200" spc="-1" strike="noStrike">
                <a:solidFill>
                  <a:srgbClr val="015955"/>
                </a:solidFill>
                <a:latin typeface="Calibri"/>
                <a:ea typeface="Arial"/>
              </a:rPr>
              <a:t>Projet HPP · soutenance 10 min · mapping C6.1 → C6.6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Rounded Rectangle 5"/>
          <p:cNvSpPr/>
          <p:nvPr/>
        </p:nvSpPr>
        <p:spPr>
          <a:xfrm>
            <a:off x="320040" y="868680"/>
            <a:ext cx="2742840" cy="164556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49" name="TextBox 6"/>
          <p:cNvSpPr/>
          <p:nvPr/>
        </p:nvSpPr>
        <p:spPr>
          <a:xfrm>
            <a:off x="1440000" y="1005840"/>
            <a:ext cx="502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fdad2"/>
                </a:solidFill>
                <a:latin typeface="Arial"/>
                <a:ea typeface="Arial"/>
              </a:rPr>
              <a:t>C6.1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7"/>
          <p:cNvSpPr/>
          <p:nvPr/>
        </p:nvSpPr>
        <p:spPr>
          <a:xfrm>
            <a:off x="694800" y="1325880"/>
            <a:ext cx="199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Arial"/>
              </a:rPr>
              <a:t>Enjeux métier → data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8"/>
          <p:cNvSpPr/>
          <p:nvPr/>
        </p:nvSpPr>
        <p:spPr>
          <a:xfrm>
            <a:off x="276480" y="1828800"/>
            <a:ext cx="2829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HPP sévère (~2 %) · anticipation soins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Rounded Rectangle 9"/>
          <p:cNvSpPr/>
          <p:nvPr/>
        </p:nvSpPr>
        <p:spPr>
          <a:xfrm>
            <a:off x="3246120" y="868680"/>
            <a:ext cx="2742840" cy="164556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4366080" y="1005840"/>
            <a:ext cx="502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fdad2"/>
                </a:solidFill>
                <a:latin typeface="Arial"/>
                <a:ea typeface="Arial"/>
              </a:rPr>
              <a:t>C6.2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1"/>
          <p:cNvSpPr/>
          <p:nvPr/>
        </p:nvSpPr>
        <p:spPr>
          <a:xfrm>
            <a:off x="3957840" y="1325880"/>
            <a:ext cx="1319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Arial"/>
              </a:rPr>
              <a:t>Veille &amp; stack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2"/>
          <p:cNvSpPr/>
          <p:nvPr/>
        </p:nvSpPr>
        <p:spPr>
          <a:xfrm>
            <a:off x="3495960" y="1828800"/>
            <a:ext cx="2243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SMOTE · XGB/RF/LR · MLflow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· Docker · HF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Rounded Rectangle 13"/>
          <p:cNvSpPr/>
          <p:nvPr/>
        </p:nvSpPr>
        <p:spPr>
          <a:xfrm>
            <a:off x="6172200" y="868680"/>
            <a:ext cx="2742840" cy="164556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57" name="TextBox 14"/>
          <p:cNvSpPr/>
          <p:nvPr/>
        </p:nvSpPr>
        <p:spPr>
          <a:xfrm>
            <a:off x="7292160" y="1005840"/>
            <a:ext cx="502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fdad2"/>
                </a:solidFill>
                <a:latin typeface="Arial"/>
                <a:ea typeface="Arial"/>
              </a:rPr>
              <a:t>C6.3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15"/>
          <p:cNvSpPr/>
          <p:nvPr/>
        </p:nvSpPr>
        <p:spPr>
          <a:xfrm>
            <a:off x="6824160" y="1325880"/>
            <a:ext cx="1438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Arial"/>
              </a:rPr>
              <a:t>Cadrage projet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16"/>
          <p:cNvSpPr/>
          <p:nvPr/>
        </p:nvSpPr>
        <p:spPr>
          <a:xfrm>
            <a:off x="6161400" y="1828800"/>
            <a:ext cx="2764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Objectif clinique · anti-leakage · POC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ounded Rectangle 17"/>
          <p:cNvSpPr/>
          <p:nvPr/>
        </p:nvSpPr>
        <p:spPr>
          <a:xfrm>
            <a:off x="320040" y="2697480"/>
            <a:ext cx="2742840" cy="164556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1" name="TextBox 18"/>
          <p:cNvSpPr/>
          <p:nvPr/>
        </p:nvSpPr>
        <p:spPr>
          <a:xfrm>
            <a:off x="1440000" y="2834640"/>
            <a:ext cx="502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fdad2"/>
                </a:solidFill>
                <a:latin typeface="Arial"/>
                <a:ea typeface="Arial"/>
              </a:rPr>
              <a:t>C6.4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19"/>
          <p:cNvSpPr/>
          <p:nvPr/>
        </p:nvSpPr>
        <p:spPr>
          <a:xfrm>
            <a:off x="883080" y="3154680"/>
            <a:ext cx="1616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Arial"/>
              </a:rPr>
              <a:t>Pilotage &amp; RGPD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20"/>
          <p:cNvSpPr/>
          <p:nvPr/>
        </p:nvSpPr>
        <p:spPr>
          <a:xfrm>
            <a:off x="800280" y="3657600"/>
            <a:ext cx="1782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Recall prioritaire ·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données anonymisées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ounded Rectangle 21"/>
          <p:cNvSpPr/>
          <p:nvPr/>
        </p:nvSpPr>
        <p:spPr>
          <a:xfrm>
            <a:off x="3246120" y="2697480"/>
            <a:ext cx="2742840" cy="164556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5" name="TextBox 22"/>
          <p:cNvSpPr/>
          <p:nvPr/>
        </p:nvSpPr>
        <p:spPr>
          <a:xfrm>
            <a:off x="4366080" y="2834640"/>
            <a:ext cx="502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fdad2"/>
                </a:solidFill>
                <a:latin typeface="Arial"/>
                <a:ea typeface="Arial"/>
              </a:rPr>
              <a:t>C6.5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23"/>
          <p:cNvSpPr/>
          <p:nvPr/>
        </p:nvSpPr>
        <p:spPr>
          <a:xfrm>
            <a:off x="3966120" y="3154680"/>
            <a:ext cx="130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Arial"/>
              </a:rPr>
              <a:t>Vulgarisation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24"/>
          <p:cNvSpPr/>
          <p:nvPr/>
        </p:nvSpPr>
        <p:spPr>
          <a:xfrm>
            <a:off x="3371040" y="3657600"/>
            <a:ext cx="2493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Streamlit soignants · storytelling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ounded Rectangle 25"/>
          <p:cNvSpPr/>
          <p:nvPr/>
        </p:nvSpPr>
        <p:spPr>
          <a:xfrm>
            <a:off x="6172200" y="2697480"/>
            <a:ext cx="2742840" cy="164556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9" name="TextBox 26"/>
          <p:cNvSpPr/>
          <p:nvPr/>
        </p:nvSpPr>
        <p:spPr>
          <a:xfrm>
            <a:off x="7292160" y="2834640"/>
            <a:ext cx="502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fdad2"/>
                </a:solidFill>
                <a:latin typeface="Arial"/>
                <a:ea typeface="Arial"/>
              </a:rPr>
              <a:t>C6.6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27"/>
          <p:cNvSpPr/>
          <p:nvPr/>
        </p:nvSpPr>
        <p:spPr>
          <a:xfrm>
            <a:off x="6791400" y="3154680"/>
            <a:ext cx="1504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Arial"/>
              </a:rPr>
              <a:t>Direction A → Z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28"/>
          <p:cNvSpPr/>
          <p:nvPr/>
        </p:nvSpPr>
        <p:spPr>
          <a:xfrm>
            <a:off x="6413760" y="3657600"/>
            <a:ext cx="2259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Conception → MLOps → POC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→ </a:t>
            </a: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perspectives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29"/>
          <p:cNvSpPr/>
          <p:nvPr/>
        </p:nvSpPr>
        <p:spPr>
          <a:xfrm>
            <a:off x="0" y="4846320"/>
            <a:ext cx="9143640" cy="297000"/>
          </a:xfrm>
          <a:prstGeom prst="rect">
            <a:avLst/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73" name="TextBox 30"/>
          <p:cNvSpPr/>
          <p:nvPr/>
        </p:nvSpPr>
        <p:spPr>
          <a:xfrm>
            <a:off x="1972080" y="4892040"/>
            <a:ext cx="3553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e8e4dd"/>
                </a:solidFill>
                <a:latin typeface="Calibri"/>
                <a:ea typeface="Arial"/>
              </a:rPr>
              <a:t>Thibaut Modrin  ·  RNCP35288  ·  Bloc 6 — HPP Prediction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31"/>
          <p:cNvSpPr/>
          <p:nvPr/>
        </p:nvSpPr>
        <p:spPr>
          <a:xfrm>
            <a:off x="7892640" y="4892040"/>
            <a:ext cx="581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3fdad2"/>
                </a:solidFill>
                <a:latin typeface="Calibri"/>
                <a:ea typeface="Arial"/>
              </a:rPr>
              <a:t>02 / 14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61;p14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ln w="0">
            <a:noFill/>
          </a:ln>
        </p:spPr>
      </p:pic>
      <p:sp>
        <p:nvSpPr>
          <p:cNvPr id="76" name="Google Shape;62;p14"/>
          <p:cNvSpPr/>
          <p:nvPr/>
        </p:nvSpPr>
        <p:spPr>
          <a:xfrm>
            <a:off x="1192680" y="403200"/>
            <a:ext cx="531468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Pourquoi ce projet ?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Google Shape;63;p14" descr="File:Micorsoft Excel 2016-2019 CSV Icon.svg - Wikimedia Commons"/>
          <p:cNvPicPr/>
          <p:nvPr/>
        </p:nvPicPr>
        <p:blipFill>
          <a:blip r:embed="rId2"/>
          <a:stretch/>
        </p:blipFill>
        <p:spPr>
          <a:xfrm>
            <a:off x="4193640" y="2439720"/>
            <a:ext cx="1697760" cy="1941480"/>
          </a:xfrm>
          <a:prstGeom prst="rect">
            <a:avLst/>
          </a:prstGeom>
          <a:ln w="0">
            <a:noFill/>
          </a:ln>
        </p:spPr>
      </p:pic>
      <p:pic>
        <p:nvPicPr>
          <p:cNvPr id="78" name="Google Shape;64;p14" descr="Fichier:.doc icon (2000-03).svg — Wikipédia"/>
          <p:cNvPicPr/>
          <p:nvPr/>
        </p:nvPicPr>
        <p:blipFill>
          <a:blip r:embed="rId3"/>
          <a:stretch/>
        </p:blipFill>
        <p:spPr>
          <a:xfrm>
            <a:off x="1896840" y="2439720"/>
            <a:ext cx="1985040" cy="1941480"/>
          </a:xfrm>
          <a:prstGeom prst="rect">
            <a:avLst/>
          </a:prstGeom>
          <a:ln w="0">
            <a:noFill/>
          </a:ln>
        </p:spPr>
      </p:pic>
      <p:sp>
        <p:nvSpPr>
          <p:cNvPr id="79" name="Google Shape;65;p14"/>
          <p:cNvSpPr/>
          <p:nvPr/>
        </p:nvSpPr>
        <p:spPr>
          <a:xfrm>
            <a:off x="2217960" y="2557080"/>
            <a:ext cx="4372920" cy="13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" sz="4400" spc="-1" strike="noStrike">
                <a:solidFill>
                  <a:srgbClr val="ff0000"/>
                </a:solidFill>
                <a:latin typeface="Arial"/>
                <a:ea typeface="Arial"/>
              </a:rPr>
              <a:t>DATA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" sz="4400" spc="-1" strike="noStrike">
                <a:solidFill>
                  <a:srgbClr val="ff0000"/>
                </a:solidFill>
                <a:latin typeface="Arial"/>
                <a:ea typeface="Arial"/>
              </a:rPr>
              <a:t>ANONYMISÉES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66;p14"/>
          <p:cNvSpPr/>
          <p:nvPr/>
        </p:nvSpPr>
        <p:spPr>
          <a:xfrm rot="21244200">
            <a:off x="559440" y="147996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992880" y="1250640"/>
            <a:ext cx="7709040" cy="9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Collaboration avec un Statisticien de la  maternité de Bourgogne ( Réseau de connaissance 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"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nodeType="after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72;p15"/>
          <p:cNvSpPr/>
          <p:nvPr/>
        </p:nvSpPr>
        <p:spPr>
          <a:xfrm>
            <a:off x="5400" y="-17640"/>
            <a:ext cx="3335040" cy="516096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90600" y="1138680"/>
            <a:ext cx="2512800" cy="345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pc="-1" strike="noStrike">
                <a:solidFill>
                  <a:srgbClr val="015955"/>
                </a:solidFill>
                <a:latin typeface="Inter"/>
                <a:ea typeface="Inter"/>
              </a:rPr>
              <a:t>Les datas: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pc="-1" strike="noStrike">
                <a:solidFill>
                  <a:srgbClr val="015955"/>
                </a:solidFill>
                <a:latin typeface="Inter"/>
                <a:ea typeface="Inter"/>
              </a:rPr>
              <a:t>issu de la maternité de Bourgogne 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Google Shape;74;p15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3931560" y="1443600"/>
            <a:ext cx="531468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Jeux de données avec 120 variables et 60000 lignes 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76;p15"/>
          <p:cNvSpPr/>
          <p:nvPr/>
        </p:nvSpPr>
        <p:spPr>
          <a:xfrm rot="21244200">
            <a:off x="3593880" y="168660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77;p15"/>
          <p:cNvSpPr/>
          <p:nvPr/>
        </p:nvSpPr>
        <p:spPr>
          <a:xfrm rot="21244200">
            <a:off x="3593880" y="267696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title"/>
          </p:nvPr>
        </p:nvSpPr>
        <p:spPr>
          <a:xfrm>
            <a:off x="3931560" y="604800"/>
            <a:ext cx="531468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Rapport Annuel de l’établissement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79;p15"/>
          <p:cNvSpPr/>
          <p:nvPr/>
        </p:nvSpPr>
        <p:spPr>
          <a:xfrm rot="21244200">
            <a:off x="3593880" y="84780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title"/>
          </p:nvPr>
        </p:nvSpPr>
        <p:spPr>
          <a:xfrm>
            <a:off x="4012560" y="2424960"/>
            <a:ext cx="531468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Dictionnaires des variables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Google Shape;81;p15" descr=""/>
          <p:cNvPicPr/>
          <p:nvPr/>
        </p:nvPicPr>
        <p:blipFill>
          <a:blip r:embed="rId2"/>
          <a:stretch/>
        </p:blipFill>
        <p:spPr>
          <a:xfrm>
            <a:off x="651240" y="3373920"/>
            <a:ext cx="4169160" cy="1278360"/>
          </a:xfrm>
          <a:prstGeom prst="rect">
            <a:avLst/>
          </a:prstGeom>
          <a:ln w="0">
            <a:noFill/>
          </a:ln>
        </p:spPr>
      </p:pic>
      <p:pic>
        <p:nvPicPr>
          <p:cNvPr id="92" name="Google Shape;82;p15" descr=""/>
          <p:cNvPicPr/>
          <p:nvPr/>
        </p:nvPicPr>
        <p:blipFill>
          <a:blip r:embed="rId3"/>
          <a:stretch/>
        </p:blipFill>
        <p:spPr>
          <a:xfrm>
            <a:off x="4922640" y="3406680"/>
            <a:ext cx="3962880" cy="12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87;p16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ln w="0">
            <a:noFill/>
          </a:ln>
        </p:spPr>
      </p:pic>
      <p:sp>
        <p:nvSpPr>
          <p:cNvPr id="94" name="Google Shape;88;p16"/>
          <p:cNvSpPr/>
          <p:nvPr/>
        </p:nvSpPr>
        <p:spPr>
          <a:xfrm>
            <a:off x="1192680" y="403200"/>
            <a:ext cx="531468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Qu’est ce que l’HPP ?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89;p16"/>
          <p:cNvSpPr/>
          <p:nvPr/>
        </p:nvSpPr>
        <p:spPr>
          <a:xfrm>
            <a:off x="350280" y="1140840"/>
            <a:ext cx="8762400" cy="13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" sz="1900" spc="-1" strike="noStrike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</a:rPr>
              <a:t>Problématique : 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0097a7"/>
              </a:buClr>
              <a:buFont typeface="Roboto"/>
              <a:buChar char="-"/>
              <a:tabLst>
                <a:tab algn="l" pos="0"/>
              </a:tabLst>
            </a:pPr>
            <a:r>
              <a:rPr b="0" lang="fr" sz="1900" spc="-1" strike="noStrike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</a:rPr>
              <a:t>Hémorragie vaginale survenant dans les 24 heures après l’accouchement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0097a7"/>
              </a:buClr>
              <a:buFont typeface="Roboto"/>
              <a:buChar char="-"/>
              <a:tabLst>
                <a:tab algn="l" pos="0"/>
              </a:tabLst>
            </a:pPr>
            <a:r>
              <a:rPr b="0" lang="fr" sz="1900" spc="-1" strike="noStrike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</a:rPr>
              <a:t>HPP sévere  → Transfusion sanguine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0097a7"/>
              </a:buClr>
              <a:buFont typeface="Roboto"/>
              <a:buChar char="-"/>
              <a:tabLst>
                <a:tab algn="l" pos="0"/>
              </a:tabLst>
            </a:pPr>
            <a:r>
              <a:rPr b="0" lang="fr" sz="1900" spc="-1" strike="noStrike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</a:rPr>
              <a:t>1ère cause de mortalité en France durant l’accouchement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" sz="1900" spc="-1" strike="noStrike">
                <a:solidFill>
                  <a:schemeClr val="accent5"/>
                </a:solidFill>
                <a:highlight>
                  <a:srgbClr val="ffffff"/>
                </a:highlight>
                <a:latin typeface="Roboto"/>
                <a:ea typeface="Roboto"/>
              </a:rPr>
              <a:t>Objectif  : 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0097a7"/>
              </a:buClr>
              <a:buFont typeface="Roboto"/>
              <a:buChar char="-"/>
              <a:tabLst>
                <a:tab algn="l" pos="0"/>
              </a:tabLst>
            </a:pPr>
            <a:r>
              <a:rPr b="0" lang="fr" sz="1900" spc="-1" strike="noStrike">
                <a:solidFill>
                  <a:schemeClr val="accent5"/>
                </a:solidFill>
                <a:highlight>
                  <a:srgbClr val="ffffff"/>
                </a:highlight>
                <a:latin typeface="Roboto"/>
                <a:ea typeface="Roboto"/>
              </a:rPr>
              <a:t>Aider l’équipe soignante à mieux se préparer pour améliorer les soins 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" sz="1900" spc="-1" strike="noStrike">
                <a:solidFill>
                  <a:schemeClr val="accent5"/>
                </a:solidFill>
                <a:highlight>
                  <a:srgbClr val="ffffff"/>
                </a:highlight>
                <a:latin typeface="Roboto"/>
                <a:ea typeface="Roboto"/>
              </a:rPr>
              <a:t>Solution  : 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0097a7"/>
              </a:buClr>
              <a:buFont typeface="Roboto"/>
              <a:buChar char="-"/>
              <a:tabLst>
                <a:tab algn="l" pos="0"/>
              </a:tabLst>
            </a:pPr>
            <a:r>
              <a:rPr b="0" lang="fr" sz="1900" spc="-1" strike="noStrike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</a:rPr>
              <a:t>Modèle de Machine Learning à utiliser avant entrée en salle d’accouchement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90;p16"/>
          <p:cNvSpPr/>
          <p:nvPr/>
        </p:nvSpPr>
        <p:spPr>
          <a:xfrm>
            <a:off x="0" y="0"/>
            <a:ext cx="29995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192680" y="403200"/>
            <a:ext cx="531468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Sélection des variables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96;p17"/>
          <p:cNvSpPr/>
          <p:nvPr/>
        </p:nvSpPr>
        <p:spPr>
          <a:xfrm rot="21244200">
            <a:off x="559440" y="132516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992880" y="1075320"/>
            <a:ext cx="770904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Respecter la temporalité des variables pour éviter les fuites de données.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Google Shape;98;p17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ln w="0">
            <a:noFill/>
          </a:ln>
        </p:spPr>
      </p:pic>
      <p:sp>
        <p:nvSpPr>
          <p:cNvPr id="101" name="Google Shape;99;p17"/>
          <p:cNvSpPr/>
          <p:nvPr/>
        </p:nvSpPr>
        <p:spPr>
          <a:xfrm>
            <a:off x="-90000" y="4796280"/>
            <a:ext cx="9143640" cy="25092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Google Shape;100;p17" descr="Enceinte Jeune Femme Clipart Photo stock libre - Public Domain ..."/>
          <p:cNvPicPr/>
          <p:nvPr/>
        </p:nvPicPr>
        <p:blipFill>
          <a:blip r:embed="rId2"/>
          <a:stretch/>
        </p:blipFill>
        <p:spPr>
          <a:xfrm>
            <a:off x="1396440" y="2523240"/>
            <a:ext cx="1470600" cy="1470600"/>
          </a:xfrm>
          <a:prstGeom prst="rect">
            <a:avLst/>
          </a:prstGeom>
          <a:ln w="0">
            <a:noFill/>
          </a:ln>
        </p:spPr>
      </p:pic>
      <p:pic>
        <p:nvPicPr>
          <p:cNvPr id="103" name="Google Shape;101;p17" descr=""/>
          <p:cNvPicPr/>
          <p:nvPr/>
        </p:nvPicPr>
        <p:blipFill>
          <a:blip r:embed="rId3"/>
          <a:stretch/>
        </p:blipFill>
        <p:spPr>
          <a:xfrm>
            <a:off x="3606840" y="2835000"/>
            <a:ext cx="1750320" cy="979920"/>
          </a:xfrm>
          <a:prstGeom prst="rect">
            <a:avLst/>
          </a:prstGeom>
          <a:ln w="0">
            <a:noFill/>
          </a:ln>
        </p:spPr>
      </p:pic>
      <p:pic>
        <p:nvPicPr>
          <p:cNvPr id="104" name="Google Shape;102;p17" descr=""/>
          <p:cNvPicPr/>
          <p:nvPr/>
        </p:nvPicPr>
        <p:blipFill>
          <a:blip r:embed="rId4"/>
          <a:stretch/>
        </p:blipFill>
        <p:spPr>
          <a:xfrm>
            <a:off x="6215760" y="2737800"/>
            <a:ext cx="2295360" cy="1285200"/>
          </a:xfrm>
          <a:prstGeom prst="rect">
            <a:avLst/>
          </a:prstGeom>
          <a:ln w="0">
            <a:noFill/>
          </a:ln>
        </p:spPr>
      </p:pic>
      <p:cxnSp>
        <p:nvCxnSpPr>
          <p:cNvPr id="105" name="Google Shape;103;p17"/>
          <p:cNvCxnSpPr/>
          <p:nvPr/>
        </p:nvCxnSpPr>
        <p:spPr>
          <a:xfrm flipV="1">
            <a:off x="1247040" y="4371480"/>
            <a:ext cx="6735960" cy="2196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106" name="PlaceHolder 3"/>
          <p:cNvSpPr>
            <a:spLocks noGrp="1"/>
          </p:cNvSpPr>
          <p:nvPr>
            <p:ph type="title"/>
          </p:nvPr>
        </p:nvSpPr>
        <p:spPr>
          <a:xfrm>
            <a:off x="992880" y="1761120"/>
            <a:ext cx="770904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—</a:t>
            </a: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&gt; Recherche des variables avant accouchement avec retour du statisticien et puissance des LLM avancés ( Chat-gpt o1 )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7" name="Google Shape;105;p17"/>
          <p:cNvCxnSpPr/>
          <p:nvPr/>
        </p:nvCxnSpPr>
        <p:spPr>
          <a:xfrm flipH="1">
            <a:off x="3375000" y="4245480"/>
            <a:ext cx="7560" cy="38196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  <p:sp>
        <p:nvSpPr>
          <p:cNvPr id="108" name="Google Shape;106;p17"/>
          <p:cNvSpPr/>
          <p:nvPr/>
        </p:nvSpPr>
        <p:spPr>
          <a:xfrm>
            <a:off x="2177280" y="4589280"/>
            <a:ext cx="2606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200" spc="-1" strike="noStrike">
                <a:solidFill>
                  <a:schemeClr val="dk2"/>
                </a:solidFill>
                <a:latin typeface="Arial"/>
                <a:ea typeface="Arial"/>
              </a:rPr>
              <a:t>Entrée en salle d’accouchement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9" name="Google Shape;107;p17"/>
          <p:cNvCxnSpPr/>
          <p:nvPr/>
        </p:nvCxnSpPr>
        <p:spPr>
          <a:xfrm flipH="1">
            <a:off x="5545440" y="4191480"/>
            <a:ext cx="7560" cy="38196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  <p:sp>
        <p:nvSpPr>
          <p:cNvPr id="110" name="Google Shape;108;p17"/>
          <p:cNvSpPr/>
          <p:nvPr/>
        </p:nvSpPr>
        <p:spPr>
          <a:xfrm>
            <a:off x="4844160" y="4589280"/>
            <a:ext cx="2606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200" spc="-1" strike="noStrike">
                <a:solidFill>
                  <a:schemeClr val="dk2"/>
                </a:solidFill>
                <a:latin typeface="Arial"/>
                <a:ea typeface="Arial"/>
              </a:rPr>
              <a:t>Naissance du bébé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109;p17"/>
          <p:cNvSpPr/>
          <p:nvPr/>
        </p:nvSpPr>
        <p:spPr>
          <a:xfrm>
            <a:off x="1130040" y="4101480"/>
            <a:ext cx="2245320" cy="586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4;p18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ln w="0">
            <a:noFill/>
          </a:ln>
        </p:spPr>
      </p:pic>
      <p:sp>
        <p:nvSpPr>
          <p:cNvPr id="113" name="Google Shape;115;p18"/>
          <p:cNvSpPr/>
          <p:nvPr/>
        </p:nvSpPr>
        <p:spPr>
          <a:xfrm>
            <a:off x="10080" y="4892040"/>
            <a:ext cx="9143640" cy="25092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Google Shape;116;p18" descr=""/>
          <p:cNvPicPr/>
          <p:nvPr/>
        </p:nvPicPr>
        <p:blipFill>
          <a:blip r:embed="rId2"/>
          <a:stretch/>
        </p:blipFill>
        <p:spPr>
          <a:xfrm>
            <a:off x="412200" y="1670040"/>
            <a:ext cx="3833640" cy="3450240"/>
          </a:xfrm>
          <a:prstGeom prst="rect">
            <a:avLst/>
          </a:prstGeom>
          <a:ln w="0">
            <a:noFill/>
          </a:ln>
        </p:spPr>
      </p:pic>
      <p:pic>
        <p:nvPicPr>
          <p:cNvPr id="115" name="Google Shape;117;p18" descr=""/>
          <p:cNvPicPr/>
          <p:nvPr/>
        </p:nvPicPr>
        <p:blipFill>
          <a:blip r:embed="rId3"/>
          <a:stretch/>
        </p:blipFill>
        <p:spPr>
          <a:xfrm>
            <a:off x="4694760" y="1940400"/>
            <a:ext cx="4318560" cy="2773800"/>
          </a:xfrm>
          <a:prstGeom prst="rect">
            <a:avLst/>
          </a:prstGeom>
          <a:ln w="0">
            <a:noFill/>
          </a:ln>
        </p:spPr>
      </p:pic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192680" y="403200"/>
            <a:ext cx="769248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Dataset fortement déséquilibré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19;p18"/>
          <p:cNvSpPr/>
          <p:nvPr/>
        </p:nvSpPr>
        <p:spPr>
          <a:xfrm rot="21244200">
            <a:off x="407160" y="132516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title"/>
          </p:nvPr>
        </p:nvSpPr>
        <p:spPr>
          <a:xfrm>
            <a:off x="863640" y="1084320"/>
            <a:ext cx="846792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800" spc="-1" strike="noStrike">
                <a:solidFill>
                  <a:srgbClr val="4b5258"/>
                </a:solidFill>
                <a:latin typeface="Inter"/>
                <a:ea typeface="Inter"/>
              </a:rPr>
              <a:t>Techniques de resampling (SMOTE,SMOTEENN,RandomUnderSampling,...)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4" dur="indefinite" restart="never" nodeType="tmRoot">
          <p:childTnLst>
            <p:seq>
              <p:cTn id="115" dur="indefinite" nodeType="mainSeq">
                <p:childTnLst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25;p19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ln w="0">
            <a:noFill/>
          </a:ln>
        </p:spPr>
      </p:pic>
      <p:sp>
        <p:nvSpPr>
          <p:cNvPr id="120" name="Google Shape;126;p19"/>
          <p:cNvSpPr/>
          <p:nvPr/>
        </p:nvSpPr>
        <p:spPr>
          <a:xfrm>
            <a:off x="1192680" y="403200"/>
            <a:ext cx="531468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Comment évaluer les modèles ?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127;p19"/>
          <p:cNvSpPr/>
          <p:nvPr/>
        </p:nvSpPr>
        <p:spPr>
          <a:xfrm>
            <a:off x="0" y="0"/>
            <a:ext cx="29995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128;p19"/>
          <p:cNvSpPr/>
          <p:nvPr/>
        </p:nvSpPr>
        <p:spPr>
          <a:xfrm rot="21244200">
            <a:off x="559440" y="178236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92240" y="1541520"/>
            <a:ext cx="531468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3 modèles LR, RF, XGB pour classification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130;p19"/>
          <p:cNvSpPr/>
          <p:nvPr/>
        </p:nvSpPr>
        <p:spPr>
          <a:xfrm rot="21244200">
            <a:off x="559440" y="231588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1092240" y="2075040"/>
            <a:ext cx="795456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F1-score avec point d’attention pour le Recall ( Pathologie grave)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Google Shape;132;p19" descr=""/>
          <p:cNvPicPr/>
          <p:nvPr/>
        </p:nvPicPr>
        <p:blipFill>
          <a:blip r:embed="rId2"/>
          <a:stretch/>
        </p:blipFill>
        <p:spPr>
          <a:xfrm>
            <a:off x="2463840" y="2626560"/>
            <a:ext cx="4760280" cy="2158560"/>
          </a:xfrm>
          <a:prstGeom prst="rect">
            <a:avLst/>
          </a:prstGeom>
          <a:ln w="0">
            <a:noFill/>
          </a:ln>
        </p:spPr>
      </p:pic>
      <p:sp>
        <p:nvSpPr>
          <p:cNvPr id="127" name="Google Shape;133;p19"/>
          <p:cNvSpPr/>
          <p:nvPr/>
        </p:nvSpPr>
        <p:spPr>
          <a:xfrm rot="21244200">
            <a:off x="559440" y="124884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title"/>
          </p:nvPr>
        </p:nvSpPr>
        <p:spPr>
          <a:xfrm>
            <a:off x="1092240" y="1008000"/>
            <a:ext cx="788184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Variable cible (2 classes) -&gt; probabilité de HPP sévère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7" dur="indefinite" restart="never" nodeType="tmRoot">
          <p:childTnLst>
            <p:seq>
              <p:cTn id="128" dur="indefinite" nodeType="mainSeq">
                <p:childTnLst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39;p20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ln w="0">
            <a:noFill/>
          </a:ln>
        </p:spPr>
      </p:pic>
      <p:sp>
        <p:nvSpPr>
          <p:cNvPr id="130" name="Google Shape;140;p20"/>
          <p:cNvSpPr/>
          <p:nvPr/>
        </p:nvSpPr>
        <p:spPr>
          <a:xfrm>
            <a:off x="1192680" y="403200"/>
            <a:ext cx="651132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Suivi Mlflow (Docker / Hugging Face):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141;p20"/>
          <p:cNvSpPr/>
          <p:nvPr/>
        </p:nvSpPr>
        <p:spPr>
          <a:xfrm>
            <a:off x="0" y="0"/>
            <a:ext cx="29995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Google Shape;142;p20" descr=""/>
          <p:cNvPicPr/>
          <p:nvPr/>
        </p:nvPicPr>
        <p:blipFill>
          <a:blip r:embed="rId2"/>
          <a:stretch/>
        </p:blipFill>
        <p:spPr>
          <a:xfrm>
            <a:off x="3525480" y="1388160"/>
            <a:ext cx="5502600" cy="3112200"/>
          </a:xfrm>
          <a:prstGeom prst="rect">
            <a:avLst/>
          </a:prstGeom>
          <a:ln w="0">
            <a:noFill/>
          </a:ln>
        </p:spPr>
      </p:pic>
      <p:sp>
        <p:nvSpPr>
          <p:cNvPr id="133" name="Google Shape;143;p20"/>
          <p:cNvSpPr/>
          <p:nvPr/>
        </p:nvSpPr>
        <p:spPr>
          <a:xfrm rot="21244200">
            <a:off x="559440" y="155376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992880" y="1303920"/>
            <a:ext cx="25326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Créer un s3 bucket et une BDD SQL pour le backend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145;p20"/>
          <p:cNvSpPr/>
          <p:nvPr/>
        </p:nvSpPr>
        <p:spPr>
          <a:xfrm rot="21244200">
            <a:off x="559440" y="239184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title"/>
          </p:nvPr>
        </p:nvSpPr>
        <p:spPr>
          <a:xfrm>
            <a:off x="992880" y="2191320"/>
            <a:ext cx="25326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Pousser Dockerfile et Requirements.txt sur HgF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147;p20"/>
          <p:cNvSpPr/>
          <p:nvPr/>
        </p:nvSpPr>
        <p:spPr>
          <a:xfrm rot="21244200">
            <a:off x="559440" y="323028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title"/>
          </p:nvPr>
        </p:nvSpPr>
        <p:spPr>
          <a:xfrm>
            <a:off x="1040400" y="3006720"/>
            <a:ext cx="248472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Paramétrer les variables d’environnement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Google Shape;149;p20"/>
          <p:cNvSpPr/>
          <p:nvPr/>
        </p:nvSpPr>
        <p:spPr>
          <a:xfrm rot="21244200">
            <a:off x="559440" y="414468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title"/>
          </p:nvPr>
        </p:nvSpPr>
        <p:spPr>
          <a:xfrm>
            <a:off x="1040400" y="3921120"/>
            <a:ext cx="248472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Créer des run mlflow dans les tests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9" dur="indefinite" restart="never" nodeType="tmRoot">
          <p:childTnLst>
            <p:seq>
              <p:cTn id="150" dur="indefinite" nodeType="mainSeq">
                <p:childTnLst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55;p21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ln w="0">
            <a:noFill/>
          </a:ln>
        </p:spPr>
      </p:pic>
      <p:sp>
        <p:nvSpPr>
          <p:cNvPr id="142" name="Google Shape;156;p21"/>
          <p:cNvSpPr/>
          <p:nvPr/>
        </p:nvSpPr>
        <p:spPr>
          <a:xfrm>
            <a:off x="1192680" y="403200"/>
            <a:ext cx="531468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Résultats ?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157;p21"/>
          <p:cNvSpPr/>
          <p:nvPr/>
        </p:nvSpPr>
        <p:spPr>
          <a:xfrm>
            <a:off x="0" y="0"/>
            <a:ext cx="29995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Google Shape;158;p21"/>
          <p:cNvSpPr/>
          <p:nvPr/>
        </p:nvSpPr>
        <p:spPr>
          <a:xfrm rot="21244200">
            <a:off x="559440" y="132516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092240" y="1084320"/>
            <a:ext cx="531468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Score trop faible pour application terrain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Google Shape;160;p21" descr=""/>
          <p:cNvPicPr/>
          <p:nvPr/>
        </p:nvPicPr>
        <p:blipFill>
          <a:blip r:embed="rId2"/>
          <a:stretch/>
        </p:blipFill>
        <p:spPr>
          <a:xfrm>
            <a:off x="1649160" y="1637640"/>
            <a:ext cx="5797800" cy="3309480"/>
          </a:xfrm>
          <a:prstGeom prst="rect">
            <a:avLst/>
          </a:prstGeom>
          <a:ln w="0">
            <a:noFill/>
          </a:ln>
        </p:spPr>
      </p:pic>
      <p:sp>
        <p:nvSpPr>
          <p:cNvPr id="147" name="Google Shape;161;p21"/>
          <p:cNvSpPr/>
          <p:nvPr/>
        </p:nvSpPr>
        <p:spPr>
          <a:xfrm>
            <a:off x="117360" y="2788200"/>
            <a:ext cx="18925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300" spc="-1" strike="noStrike">
                <a:solidFill>
                  <a:schemeClr val="dk2"/>
                </a:solidFill>
                <a:latin typeface="Arial"/>
                <a:ea typeface="Arial"/>
              </a:rPr>
              <a:t>XGB Classifier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5" dur="indefinite" restart="never" nodeType="tmRoot">
          <p:childTnLst>
            <p:seq>
              <p:cTn id="176" dur="indefinite" nodeType="mainSeq">
                <p:childTnLst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1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4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7" dur="37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0" dur="39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192680" y="403200"/>
            <a:ext cx="712008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Déploiement du modèle ( POC )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Google Shape;167;p22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ln w="0">
            <a:noFill/>
          </a:ln>
        </p:spPr>
      </p:pic>
      <p:sp>
        <p:nvSpPr>
          <p:cNvPr id="150" name="Google Shape;168;p22"/>
          <p:cNvSpPr/>
          <p:nvPr/>
        </p:nvSpPr>
        <p:spPr>
          <a:xfrm>
            <a:off x="10080" y="4892040"/>
            <a:ext cx="9143640" cy="25092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Google Shape;169;p22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4804200" y="1130040"/>
            <a:ext cx="3289680" cy="3724920"/>
          </a:xfrm>
          <a:prstGeom prst="rect">
            <a:avLst/>
          </a:prstGeom>
          <a:ln w="0">
            <a:noFill/>
          </a:ln>
        </p:spPr>
      </p:pic>
      <p:sp>
        <p:nvSpPr>
          <p:cNvPr id="152" name="Google Shape;170;p22"/>
          <p:cNvSpPr/>
          <p:nvPr/>
        </p:nvSpPr>
        <p:spPr>
          <a:xfrm rot="21244200">
            <a:off x="559440" y="254448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title"/>
          </p:nvPr>
        </p:nvSpPr>
        <p:spPr>
          <a:xfrm>
            <a:off x="915840" y="2341440"/>
            <a:ext cx="3772800" cy="177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Gestion des manquants : dropna() sur le dataset et pas d’imputation dans le  preprocess intégré à la pipeline du modèle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—</a:t>
            </a: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&gt; Toutes les variables utilisés pour l'entraînement du modèle doivent être complétées par l’utilisateur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172;p22"/>
          <p:cNvSpPr/>
          <p:nvPr/>
        </p:nvSpPr>
        <p:spPr>
          <a:xfrm rot="21244200">
            <a:off x="559440" y="147744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title"/>
          </p:nvPr>
        </p:nvSpPr>
        <p:spPr>
          <a:xfrm>
            <a:off x="915840" y="1274400"/>
            <a:ext cx="3772800" cy="9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DockerFile + requirements.txt+ app.py → Build → Run en local avec binding pour débogage interactif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1" dur="indefinite" restart="never" nodeType="tmRoot">
          <p:childTnLst>
            <p:seq>
              <p:cTn id="192" dur="indefinite" nodeType="mainSeq"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8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192680" y="403200"/>
            <a:ext cx="531468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Récapitulatif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179;p23"/>
          <p:cNvSpPr/>
          <p:nvPr/>
        </p:nvSpPr>
        <p:spPr>
          <a:xfrm rot="21244200">
            <a:off x="559440" y="147996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title"/>
          </p:nvPr>
        </p:nvSpPr>
        <p:spPr>
          <a:xfrm>
            <a:off x="992880" y="1250640"/>
            <a:ext cx="7709040" cy="9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Définition de la variable cible à partir du rapport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Google Shape;181;p23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ln w="0">
            <a:noFill/>
          </a:ln>
        </p:spPr>
      </p:pic>
      <p:sp>
        <p:nvSpPr>
          <p:cNvPr id="160" name="Google Shape;182;p23"/>
          <p:cNvSpPr/>
          <p:nvPr/>
        </p:nvSpPr>
        <p:spPr>
          <a:xfrm>
            <a:off x="-90000" y="4796280"/>
            <a:ext cx="9143640" cy="25092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title"/>
          </p:nvPr>
        </p:nvSpPr>
        <p:spPr>
          <a:xfrm>
            <a:off x="992880" y="1890360"/>
            <a:ext cx="7709040" cy="9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Sélection des variables en veillant au Data leakage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184;p23"/>
          <p:cNvSpPr/>
          <p:nvPr/>
        </p:nvSpPr>
        <p:spPr>
          <a:xfrm rot="21244200">
            <a:off x="559440" y="215352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title"/>
          </p:nvPr>
        </p:nvSpPr>
        <p:spPr>
          <a:xfrm>
            <a:off x="992880" y="2543400"/>
            <a:ext cx="7709040" cy="9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Modélisation en utilisant des techniques de resampling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186;p23"/>
          <p:cNvSpPr/>
          <p:nvPr/>
        </p:nvSpPr>
        <p:spPr>
          <a:xfrm rot="21244200">
            <a:off x="559440" y="275076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title"/>
          </p:nvPr>
        </p:nvSpPr>
        <p:spPr>
          <a:xfrm>
            <a:off x="992880" y="3194640"/>
            <a:ext cx="7709040" cy="86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Suivi avec un tableau de bord MlFlow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Google Shape;188;p23"/>
          <p:cNvSpPr/>
          <p:nvPr/>
        </p:nvSpPr>
        <p:spPr>
          <a:xfrm rot="21244200">
            <a:off x="559440" y="343944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6"/>
          <p:cNvSpPr>
            <a:spLocks noGrp="1"/>
          </p:cNvSpPr>
          <p:nvPr>
            <p:ph type="title"/>
          </p:nvPr>
        </p:nvSpPr>
        <p:spPr>
          <a:xfrm>
            <a:off x="992880" y="3827520"/>
            <a:ext cx="7709040" cy="86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Construction d’une application Streamlit (POC)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190;p23"/>
          <p:cNvSpPr/>
          <p:nvPr/>
        </p:nvSpPr>
        <p:spPr>
          <a:xfrm rot="21244200">
            <a:off x="527400" y="407736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9" dur="indefinite" restart="never" nodeType="tmRoot">
          <p:childTnLst>
            <p:seq>
              <p:cTn id="220" dur="indefinite" nodeType="mainSeq">
                <p:childTnLst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95;p24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ln w="0">
            <a:noFill/>
          </a:ln>
        </p:spPr>
      </p:pic>
      <p:sp>
        <p:nvSpPr>
          <p:cNvPr id="170" name="Google Shape;196;p24"/>
          <p:cNvSpPr/>
          <p:nvPr/>
        </p:nvSpPr>
        <p:spPr>
          <a:xfrm>
            <a:off x="1192680" y="403200"/>
            <a:ext cx="531468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Perspectives :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197;p24"/>
          <p:cNvSpPr/>
          <p:nvPr/>
        </p:nvSpPr>
        <p:spPr>
          <a:xfrm>
            <a:off x="0" y="0"/>
            <a:ext cx="29995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oogle Shape;198;p24"/>
          <p:cNvSpPr/>
          <p:nvPr/>
        </p:nvSpPr>
        <p:spPr>
          <a:xfrm rot="21244200">
            <a:off x="559440" y="163008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092240" y="1389240"/>
            <a:ext cx="824832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Définir clairement le cadre du projet avec les spécialistes Métier 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200;p24"/>
          <p:cNvSpPr/>
          <p:nvPr/>
        </p:nvSpPr>
        <p:spPr>
          <a:xfrm rot="21244200">
            <a:off x="559440" y="246816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title"/>
          </p:nvPr>
        </p:nvSpPr>
        <p:spPr>
          <a:xfrm>
            <a:off x="1092240" y="2227320"/>
            <a:ext cx="781524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Feature Selection en s’appuyant sur les études cliniques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02;p24"/>
          <p:cNvSpPr/>
          <p:nvPr/>
        </p:nvSpPr>
        <p:spPr>
          <a:xfrm rot="21244200">
            <a:off x="559440" y="330624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title"/>
          </p:nvPr>
        </p:nvSpPr>
        <p:spPr>
          <a:xfrm>
            <a:off x="1092240" y="3065400"/>
            <a:ext cx="531468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Centraliser données de toutes la France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04;p24"/>
          <p:cNvSpPr/>
          <p:nvPr/>
        </p:nvSpPr>
        <p:spPr>
          <a:xfrm rot="21244200">
            <a:off x="559440" y="4068360"/>
            <a:ext cx="261000" cy="4644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title"/>
          </p:nvPr>
        </p:nvSpPr>
        <p:spPr>
          <a:xfrm>
            <a:off x="1092240" y="3827520"/>
            <a:ext cx="531468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Mise en place d’un pipeline automatisé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1" dur="indefinite" restart="never" nodeType="tmRoot">
          <p:childTnLst>
            <p:seq>
              <p:cTn id="252" dur="indefinite" nodeType="mainSeq">
                <p:childTnLst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5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757520" y="767880"/>
            <a:ext cx="6362280" cy="318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3200" spc="-1" strike="noStrike">
                <a:solidFill>
                  <a:srgbClr val="ffffff"/>
                </a:solidFill>
                <a:latin typeface="Libre Baskerville"/>
                <a:ea typeface="Libre Baskerville"/>
              </a:rPr>
              <a:t>À votre écoute pour vos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3200" spc="-1" strike="noStrike">
                <a:solidFill>
                  <a:srgbClr val="ffffff"/>
                </a:solidFill>
                <a:latin typeface="Libre Baskerville"/>
                <a:ea typeface="Libre Baskerville"/>
              </a:rPr>
              <a:t> </a:t>
            </a:r>
            <a:r>
              <a:rPr b="0" lang="fr" sz="3200" spc="-1" strike="noStrike">
                <a:solidFill>
                  <a:srgbClr val="ffffff"/>
                </a:solidFill>
                <a:latin typeface="Libre Baskerville"/>
                <a:ea typeface="Libre Baskerville"/>
              </a:rPr>
              <a:t>Questions !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Google Shape;211;p25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92400"/>
          </a:xfrm>
          <a:prstGeom prst="rect">
            <a:avLst/>
          </a:prstGeom>
          <a:ln w="0">
            <a:noFill/>
          </a:ln>
        </p:spPr>
      </p:pic>
      <p:sp>
        <p:nvSpPr>
          <p:cNvPr id="182" name="Rectangle 211"/>
          <p:cNvSpPr/>
          <p:nvPr/>
        </p:nvSpPr>
        <p:spPr>
          <a:xfrm>
            <a:off x="0" y="0"/>
            <a:ext cx="9143640" cy="255600"/>
          </a:xfrm>
          <a:prstGeom prst="rect">
            <a:avLst/>
          </a:prstGeom>
          <a:solidFill>
            <a:srgbClr val="3fd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83" name="TextBox 212"/>
          <p:cNvSpPr/>
          <p:nvPr/>
        </p:nvSpPr>
        <p:spPr>
          <a:xfrm>
            <a:off x="2638080" y="27360"/>
            <a:ext cx="38674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100" spc="-1" strike="noStrike">
                <a:solidFill>
                  <a:srgbClr val="0e3449"/>
                </a:solidFill>
                <a:latin typeface="Calibri"/>
                <a:ea typeface="Arial"/>
              </a:rPr>
              <a:t>BLOC 6  ·  RNCP35288  ·  Soutenance projet data A → Z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96000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92680" y="403200"/>
            <a:ext cx="6511320" cy="532800"/>
          </a:xfrm>
          <a:prstGeom prst="round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Architecture MLOps (Docker / Hugging 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000000"/>
            <a:ext cx="8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6E78"/>
                </a:solidFill>
                <a:latin typeface="Calibri"/>
              </a:defRPr>
            </a:pPr>
            <a:r>
              <a:t>Schéma de bout en bout — après le suivi MLflow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1500000"/>
            <a:ext cx="2000000" cy="720000"/>
          </a:xfrm>
          <a:prstGeom prst="roundRect">
            <a:avLst/>
          </a:prstGeom>
          <a:solidFill>
            <a:srgbClr val="144A5E"/>
          </a:solidFill>
          <a:ln w="19050">
            <a:solidFill>
              <a:srgbClr val="3F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Données</a:t>
            </a:r>
            <a:br/>
            <a:r>
              <a:t>anonymisées</a:t>
            </a:r>
            <a:br/>
            <a:r>
              <a:t>(maternité)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20000" y="1800000"/>
            <a:ext cx="280000" cy="80000"/>
          </a:xfrm>
          <a:prstGeom prst="rightArrow">
            <a:avLst/>
          </a:prstGeom>
          <a:solidFill>
            <a:srgbClr val="3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20000" y="1500000"/>
            <a:ext cx="2000000" cy="720000"/>
          </a:xfrm>
          <a:prstGeom prst="roundRect">
            <a:avLst/>
          </a:prstGeom>
          <a:solidFill>
            <a:srgbClr val="144A5E"/>
          </a:solidFill>
          <a:ln w="19050">
            <a:solidFill>
              <a:srgbClr val="3F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Notebooks</a:t>
            </a:r>
            <a:br/>
            <a:r>
              <a:t>LR / RF / XGB</a:t>
            </a:r>
            <a:br/>
            <a:r>
              <a:t>+ resampling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0000" y="1800000"/>
            <a:ext cx="280000" cy="80000"/>
          </a:xfrm>
          <a:prstGeom prst="rightArrow">
            <a:avLst/>
          </a:prstGeom>
          <a:solidFill>
            <a:srgbClr val="3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40000" y="1500000"/>
            <a:ext cx="2000000" cy="720000"/>
          </a:xfrm>
          <a:prstGeom prst="roundRect">
            <a:avLst/>
          </a:prstGeom>
          <a:solidFill>
            <a:srgbClr val="144A5E"/>
          </a:solidFill>
          <a:ln w="19050">
            <a:solidFill>
              <a:srgbClr val="3F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MLflow Tracking</a:t>
            </a:r>
            <a:br/>
            <a:r>
              <a:t>Docker · HF Space</a:t>
            </a:r>
            <a:br/>
            <a:r>
              <a:t>S3 + SQL backend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100000" y="2260000"/>
            <a:ext cx="80000" cy="220000"/>
          </a:xfrm>
          <a:prstGeom prst="downArrow">
            <a:avLst/>
          </a:prstGeom>
          <a:solidFill>
            <a:srgbClr val="3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20000" y="2680000"/>
            <a:ext cx="2000000" cy="720000"/>
          </a:xfrm>
          <a:prstGeom prst="roundRect">
            <a:avLst/>
          </a:prstGeom>
          <a:solidFill>
            <a:srgbClr val="0E3449"/>
          </a:solidFill>
          <a:ln w="19050">
            <a:solidFill>
              <a:srgbClr val="3F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Artefact modèle</a:t>
            </a:r>
            <a:br/>
            <a:r>
              <a:t>(.joblib / pipeline)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40000" y="2980000"/>
            <a:ext cx="280000" cy="80000"/>
          </a:xfrm>
          <a:prstGeom prst="rightArrow">
            <a:avLst/>
          </a:prstGeom>
          <a:solidFill>
            <a:srgbClr val="3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40000" y="2680000"/>
            <a:ext cx="2000000" cy="720000"/>
          </a:xfrm>
          <a:prstGeom prst="roundRect">
            <a:avLst/>
          </a:prstGeom>
          <a:solidFill>
            <a:srgbClr val="144A5E"/>
          </a:solidFill>
          <a:ln w="19050">
            <a:solidFill>
              <a:srgbClr val="3F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POC Streamlit</a:t>
            </a:r>
            <a:br/>
            <a:r>
              <a:t>HF Space online</a:t>
            </a:r>
            <a:br/>
            <a:r>
              <a:t>(+ run local)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000" y="2680000"/>
            <a:ext cx="2000000" cy="720000"/>
          </a:xfrm>
          <a:prstGeom prst="roundRect">
            <a:avLst/>
          </a:prstGeom>
          <a:solidFill>
            <a:srgbClr val="E8F6F5"/>
          </a:solidFill>
          <a:ln>
            <a:solidFill>
              <a:srgbClr val="3F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3449"/>
                </a:solidFill>
                <a:latin typeface="Arial"/>
              </a:defRPr>
            </a:pPr>
            <a:r>
              <a:t>Pourquoi ?</a:t>
            </a:r>
          </a:p>
          <a:p>
            <a:pPr>
              <a:defRPr sz="1100">
                <a:solidFill>
                  <a:srgbClr val="1A2A33"/>
                </a:solidFill>
                <a:latin typeface="Calibri"/>
              </a:defRPr>
            </a:pPr>
            <a:r>
              <a:t>Reproductibilité des runs</a:t>
            </a:r>
            <a:br/>
            <a:r>
              <a:t>+ démo soignants sans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00" y="4600000"/>
            <a:ext cx="82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E78"/>
                </a:solidFill>
                <a:latin typeface="Calibri"/>
              </a:defRPr>
            </a:pPr>
            <a:r>
              <a:t>Entrainement → tracking MLflow (Docker/HF) → déploiement POC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dcterms:modified xsi:type="dcterms:W3CDTF">2026-08-04T18:15:53Z</dcterms:modified>
  <cp:revision>1</cp:revision>
  <dc:subject/>
  <dc:title/>
</cp:coreProperties>
</file>