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69" r:id="rId37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Libre Baskerville"/>
      <p:regular r:id="rId30"/>
      <p:bold r:id="rId31"/>
      <p: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font" Target="fonts/InterSemiBold-regular.fntdata"/><Relationship Id="rId19" Type="http://schemas.openxmlformats.org/officeDocument/2006/relationships/font" Target="fonts/InterSemiBold-bold.fntdata"/><Relationship Id="rId20" Type="http://schemas.openxmlformats.org/officeDocument/2006/relationships/font" Target="fonts/InterSemiBold-italic.fntdata"/><Relationship Id="rId21" Type="http://schemas.openxmlformats.org/officeDocument/2006/relationships/font" Target="fonts/InterSemiBold-boldItalic.fntdata"/><Relationship Id="rId22" Type="http://schemas.openxmlformats.org/officeDocument/2006/relationships/font" Target="fonts/Roboto-regular.fntdata"/><Relationship Id="rId23" Type="http://schemas.openxmlformats.org/officeDocument/2006/relationships/font" Target="fonts/Roboto-bold.fntdata"/><Relationship Id="rId24" Type="http://schemas.openxmlformats.org/officeDocument/2006/relationships/font" Target="fonts/Roboto-italic.fntdata"/><Relationship Id="rId25" Type="http://schemas.openxmlformats.org/officeDocument/2006/relationships/font" Target="fonts/Roboto-boldItalic.fntdata"/><Relationship Id="rId26" Type="http://schemas.openxmlformats.org/officeDocument/2006/relationships/font" Target="fonts/Inter-regular.fntdata"/><Relationship Id="rId27" Type="http://schemas.openxmlformats.org/officeDocument/2006/relationships/font" Target="fonts/Inter-bold.fntdata"/><Relationship Id="rId28" Type="http://schemas.openxmlformats.org/officeDocument/2006/relationships/font" Target="fonts/Inter-italic.fntdata"/><Relationship Id="rId29" Type="http://schemas.openxmlformats.org/officeDocument/2006/relationships/font" Target="fonts/Inter-boldItalic.fntdata"/><Relationship Id="rId30" Type="http://schemas.openxmlformats.org/officeDocument/2006/relationships/font" Target="fonts/LibreBaskerville-regular.fntdata"/><Relationship Id="rId31" Type="http://schemas.openxmlformats.org/officeDocument/2006/relationships/font" Target="fonts/LibreBaskerville-bold.fntdata"/><Relationship Id="rId32" Type="http://schemas.openxmlformats.org/officeDocument/2006/relationships/font" Target="fonts/LibreBaskerville-italic.fntdata"/><Relationship Id="rId33" Type="http://schemas.openxmlformats.org/officeDocument/2006/relationships/font" Target="fonts/InterMedium-regular.fntdata"/><Relationship Id="rId34" Type="http://schemas.openxmlformats.org/officeDocument/2006/relationships/font" Target="fonts/InterMedium-bold.fntdata"/><Relationship Id="rId35" Type="http://schemas.openxmlformats.org/officeDocument/2006/relationships/font" Target="fonts/InterMedium-italic.fntdata"/><Relationship Id="rId36" Type="http://schemas.openxmlformats.org/officeDocument/2006/relationships/font" Target="fonts/InterMedium-boldItalic.fntdata"/><Relationship Id="rId37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729b39b7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729b39b7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f4f11f959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f4f11f959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c3b886e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c3b886e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c3b886e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c3b886e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f4f11f959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f4f11f959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729b39b7d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729b39b7d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729b39b7d_2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729b39b7d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729b39b7d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4729b39b7d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729b39b7d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4729b39b7d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6886d638ce953c1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6886d638ce953c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729b39b7d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4729b39b7d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f4f11f959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f4f11f959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hyperlink" Target="http://drive.google.com/file/d/1puCYTIcqr05liPzfP14S1m7QVcDvLNHa/view" TargetMode="External"/><Relationship Id="rId5" Type="http://schemas.openxmlformats.org/officeDocument/2006/relationships/image" Target="../media/image1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263775" y="1343175"/>
            <a:ext cx="6478200" cy="21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Prédiction de l’Hémorragie Post partum sévère </a:t>
            </a:r>
            <a:endParaRPr sz="40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chier:Hermaphrodite symbol.svg — Wikipédia"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3175" y="3117375"/>
            <a:ext cx="1479501" cy="1479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Rectangle 56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36576"/>
            <a:ext cx="8503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3449"/>
                </a:solidFill>
                <a:latin typeface="Calibri"/>
              </a:defRPr>
            </a:pPr>
            <a:r>
              <a:t>BLOC 6  ·  RNCP35288  ·  Direction de projets de gestion de données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Pourquoi ce projet</a:t>
            </a: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?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descr="File:Micorsoft Excel 2016-2019 CSV Icon.svg - Wikimedia Commons"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3502" y="2439784"/>
            <a:ext cx="1698293" cy="1941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chier:.doc icon (2000-03).svg — Wikipédia"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6877" y="2439784"/>
            <a:ext cx="1985336" cy="194171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2218050" y="2557161"/>
            <a:ext cx="4373100" cy="1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400">
                <a:solidFill>
                  <a:srgbClr val="FF0000"/>
                </a:solidFill>
              </a:rPr>
              <a:t>DATA</a:t>
            </a:r>
            <a:endParaRPr b="1" sz="44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400">
                <a:solidFill>
                  <a:srgbClr val="FF0000"/>
                </a:solidFill>
              </a:rPr>
              <a:t>ANONYMISÉES</a:t>
            </a:r>
            <a:endParaRPr b="1" sz="4400">
              <a:solidFill>
                <a:srgbClr val="FF0000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 rot="-355994">
            <a:off x="559852" y="1479947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>
            <p:ph idx="4294967295" type="ctrTitle"/>
          </p:nvPr>
        </p:nvSpPr>
        <p:spPr>
          <a:xfrm>
            <a:off x="992775" y="1250713"/>
            <a:ext cx="7709400" cy="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Collaboration avec un Statisticien de la  maternité de Bourgogne ( Réseau de connaissance )</a:t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5500" y="-17775"/>
            <a:ext cx="3335400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390600" y="1138675"/>
            <a:ext cx="2513100" cy="3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4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Les datas:</a:t>
            </a:r>
            <a:endParaRPr sz="240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4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issu de la maternité de Bourgogne </a:t>
            </a:r>
            <a:endParaRPr sz="240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>
            <p:ph idx="4294967295" type="ctrTitle"/>
          </p:nvPr>
        </p:nvSpPr>
        <p:spPr>
          <a:xfrm>
            <a:off x="3931675" y="1443453"/>
            <a:ext cx="5315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Jeux </a:t>
            </a:r>
            <a:r>
              <a:rPr lang="fr" sz="20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fr" sz="20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e données avec 120 variables et 60000 lignes .</a:t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5"/>
          <p:cNvSpPr/>
          <p:nvPr/>
        </p:nvSpPr>
        <p:spPr>
          <a:xfrm rot="-355994">
            <a:off x="3594136" y="1686686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/>
          <p:nvPr/>
        </p:nvSpPr>
        <p:spPr>
          <a:xfrm rot="-355994">
            <a:off x="3594136" y="2676986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 txBox="1"/>
          <p:nvPr>
            <p:ph idx="4294967295" type="ctrTitle"/>
          </p:nvPr>
        </p:nvSpPr>
        <p:spPr>
          <a:xfrm>
            <a:off x="3931664" y="604684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Rapport Annuel de l’établissement</a:t>
            </a:r>
            <a:endParaRPr b="0" i="0" sz="2000" u="none" cap="none" strike="noStrike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5"/>
          <p:cNvSpPr/>
          <p:nvPr/>
        </p:nvSpPr>
        <p:spPr>
          <a:xfrm rot="-355994">
            <a:off x="3594136" y="847886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 txBox="1"/>
          <p:nvPr>
            <p:ph idx="4294967295" type="ctrTitle"/>
          </p:nvPr>
        </p:nvSpPr>
        <p:spPr>
          <a:xfrm>
            <a:off x="4012400" y="2425053"/>
            <a:ext cx="5315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Dictionnaires des variables</a:t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1" name="Google Shape;81;p15" title="Capture d’écran du 2025-03-31 22-23-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299" y="3373774"/>
            <a:ext cx="4169374" cy="127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2475" y="3406650"/>
            <a:ext cx="3963075" cy="124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Qu’est ce que l’HPP ?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50350" y="1140725"/>
            <a:ext cx="87627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solidFill>
                  <a:srgbClr val="0097A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Problématique : </a:t>
            </a:r>
            <a:endParaRPr b="1" sz="1900">
              <a:solidFill>
                <a:srgbClr val="0097A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900"/>
              <a:buFont typeface="Roboto"/>
              <a:buChar char="-"/>
            </a:pPr>
            <a:r>
              <a:rPr lang="fr" sz="1900">
                <a:solidFill>
                  <a:srgbClr val="0097A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Hémorragie vaginale survenant dans les 24 heures après l’accouchement</a:t>
            </a:r>
            <a:endParaRPr sz="1900">
              <a:solidFill>
                <a:srgbClr val="0097A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900"/>
              <a:buFont typeface="Roboto"/>
              <a:buChar char="-"/>
            </a:pPr>
            <a:r>
              <a:rPr lang="fr" sz="1900">
                <a:solidFill>
                  <a:srgbClr val="0097A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HPP sévere  → Transfusion sanguine</a:t>
            </a:r>
            <a:endParaRPr sz="1900">
              <a:solidFill>
                <a:srgbClr val="0097A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900"/>
              <a:buFont typeface="Roboto"/>
              <a:buChar char="-"/>
            </a:pPr>
            <a:r>
              <a:rPr lang="fr" sz="1900">
                <a:solidFill>
                  <a:srgbClr val="0097A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1ère cause de mortalité en France durant l’accouchement</a:t>
            </a:r>
            <a:endParaRPr sz="1900">
              <a:solidFill>
                <a:srgbClr val="0097A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97A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900">
                <a:solidFill>
                  <a:schemeClr val="accent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Objectif </a:t>
            </a:r>
            <a:r>
              <a:rPr b="1" lang="fr" sz="1900">
                <a:solidFill>
                  <a:schemeClr val="accent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: </a:t>
            </a:r>
            <a:endParaRPr b="1" sz="1900">
              <a:solidFill>
                <a:schemeClr val="accent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Roboto"/>
              <a:buChar char="-"/>
            </a:pPr>
            <a:r>
              <a:rPr lang="fr" sz="1900">
                <a:solidFill>
                  <a:schemeClr val="accent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Aider l’équipe soignante à mieux se préparer pour améliorer les soins </a:t>
            </a:r>
            <a:endParaRPr b="1" sz="1900">
              <a:solidFill>
                <a:schemeClr val="accent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97A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900">
                <a:solidFill>
                  <a:schemeClr val="accent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Solution</a:t>
            </a:r>
            <a:r>
              <a:rPr b="1" lang="fr" sz="1900">
                <a:solidFill>
                  <a:schemeClr val="accent5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: </a:t>
            </a:r>
            <a:endParaRPr b="1" sz="1900">
              <a:solidFill>
                <a:schemeClr val="accent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accent5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900"/>
              <a:buFont typeface="Roboto"/>
              <a:buChar char="-"/>
            </a:pPr>
            <a:r>
              <a:rPr lang="fr" sz="1900">
                <a:solidFill>
                  <a:srgbClr val="0097A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Modèle de Machine Learning à utiliser avant entrée en salle d’accouchement</a:t>
            </a:r>
            <a:endParaRPr sz="1900">
              <a:solidFill>
                <a:srgbClr val="0097A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97A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97A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Sélection</a:t>
            </a: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des variables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6" name="Google Shape;96;p17"/>
          <p:cNvSpPr/>
          <p:nvPr/>
        </p:nvSpPr>
        <p:spPr>
          <a:xfrm rot="-355994">
            <a:off x="559852" y="132520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 txBox="1"/>
          <p:nvPr>
            <p:ph idx="4294967295" type="ctrTitle"/>
          </p:nvPr>
        </p:nvSpPr>
        <p:spPr>
          <a:xfrm>
            <a:off x="992780" y="1075275"/>
            <a:ext cx="7709400" cy="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Respecter la temporalité des variables pour éviter les fuites de données.</a:t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>
            <a:off x="-89937" y="479610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nceinte Jeune Femme Clipart Photo stock libre - Public Domain ..."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6400" y="2523150"/>
            <a:ext cx="1471049" cy="147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 title="téléchargemen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6675" y="2834888"/>
            <a:ext cx="1750775" cy="98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 title="salle_post_partu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5750" y="2737850"/>
            <a:ext cx="2295625" cy="1285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7"/>
          <p:cNvCxnSpPr/>
          <p:nvPr/>
        </p:nvCxnSpPr>
        <p:spPr>
          <a:xfrm flipH="1" rot="10800000">
            <a:off x="1247350" y="4371500"/>
            <a:ext cx="67356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7"/>
          <p:cNvSpPr txBox="1"/>
          <p:nvPr>
            <p:ph idx="4294967295" type="ctrTitle"/>
          </p:nvPr>
        </p:nvSpPr>
        <p:spPr>
          <a:xfrm>
            <a:off x="992780" y="1761075"/>
            <a:ext cx="7709400" cy="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—&gt; Recherche des variables avant accouchement avec retour du statisticien et puissance des LLM avancés ( Chat-gpt o1 )</a:t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cxnSp>
        <p:nvCxnSpPr>
          <p:cNvPr id="105" name="Google Shape;105;p17"/>
          <p:cNvCxnSpPr/>
          <p:nvPr/>
        </p:nvCxnSpPr>
        <p:spPr>
          <a:xfrm flipH="1">
            <a:off x="3375325" y="4245525"/>
            <a:ext cx="7200" cy="38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" name="Google Shape;106;p17"/>
          <p:cNvSpPr txBox="1"/>
          <p:nvPr/>
        </p:nvSpPr>
        <p:spPr>
          <a:xfrm>
            <a:off x="2177275" y="4589100"/>
            <a:ext cx="260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</a:rPr>
              <a:t>Entrée en salle d’accouchement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07" name="Google Shape;107;p17"/>
          <p:cNvCxnSpPr/>
          <p:nvPr/>
        </p:nvCxnSpPr>
        <p:spPr>
          <a:xfrm flipH="1">
            <a:off x="5545500" y="4191650"/>
            <a:ext cx="7200" cy="38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7"/>
          <p:cNvSpPr txBox="1"/>
          <p:nvPr/>
        </p:nvSpPr>
        <p:spPr>
          <a:xfrm>
            <a:off x="4844275" y="4589100"/>
            <a:ext cx="260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</a:rPr>
              <a:t>Naissance du bébé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1129950" y="4101600"/>
            <a:ext cx="2245500" cy="587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8" title="hpp_tran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025" y="1670002"/>
            <a:ext cx="3834038" cy="3450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 title="10115_2022_1772_Fig1_HTM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4838" y="1940527"/>
            <a:ext cx="4318788" cy="277411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>
            <p:ph idx="4294967295" type="ctrTitle"/>
          </p:nvPr>
        </p:nvSpPr>
        <p:spPr>
          <a:xfrm>
            <a:off x="1192675" y="403300"/>
            <a:ext cx="7692900" cy="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Dataset fortement déséquilibré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9" name="Google Shape;119;p18"/>
          <p:cNvSpPr/>
          <p:nvPr/>
        </p:nvSpPr>
        <p:spPr>
          <a:xfrm rot="-355994">
            <a:off x="407452" y="132520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>
            <p:ph idx="4294967295" type="ctrTitle"/>
          </p:nvPr>
        </p:nvSpPr>
        <p:spPr>
          <a:xfrm>
            <a:off x="863500" y="1084275"/>
            <a:ext cx="84684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18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Techniques de resampling</a:t>
            </a:r>
            <a:r>
              <a:rPr lang="fr" sz="18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fr" sz="18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(SMOTE,SMOTEENN,</a:t>
            </a:r>
            <a:r>
              <a:rPr lang="fr" sz="18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RandomUnderSampling</a:t>
            </a:r>
            <a:r>
              <a:rPr lang="fr" sz="18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,...)</a:t>
            </a:r>
            <a:endParaRPr sz="18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/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Comment évaluer les modèles ?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</a:t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 rot="-355994">
            <a:off x="559852" y="178240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 txBox="1"/>
          <p:nvPr>
            <p:ph idx="4294967295" type="ctrTitle"/>
          </p:nvPr>
        </p:nvSpPr>
        <p:spPr>
          <a:xfrm>
            <a:off x="1092100" y="1541478"/>
            <a:ext cx="5315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3 modèles LR, RF, XGB pour classification</a:t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9"/>
          <p:cNvSpPr/>
          <p:nvPr/>
        </p:nvSpPr>
        <p:spPr>
          <a:xfrm rot="-355994">
            <a:off x="559852" y="231580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 txBox="1"/>
          <p:nvPr>
            <p:ph idx="4294967295" type="ctrTitle"/>
          </p:nvPr>
        </p:nvSpPr>
        <p:spPr>
          <a:xfrm>
            <a:off x="1092100" y="2074875"/>
            <a:ext cx="79548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F1-score avec point d’attention pour le Recall ( Pathologie grave)</a:t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2" name="Google Shape;132;p19" title="Capture d’écran du 2025-04-01 07-51-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3675" y="2626625"/>
            <a:ext cx="4760584" cy="21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 rot="-355994">
            <a:off x="559852" y="124900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 txBox="1"/>
          <p:nvPr>
            <p:ph idx="4294967295" type="ctrTitle"/>
          </p:nvPr>
        </p:nvSpPr>
        <p:spPr>
          <a:xfrm>
            <a:off x="1092100" y="1008075"/>
            <a:ext cx="7882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Variable cible (2 classes) -&gt; probabilité de HPP sévère</a:t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/>
        </p:nvSpPr>
        <p:spPr>
          <a:xfrm>
            <a:off x="1192677" y="403300"/>
            <a:ext cx="65115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Suivi Mlflow (Docker / </a:t>
            </a: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Hugging Face</a:t>
            </a: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):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</a:t>
            </a:r>
            <a:endParaRPr/>
          </a:p>
        </p:txBody>
      </p:sp>
      <p:pic>
        <p:nvPicPr>
          <p:cNvPr id="142" name="Google Shape;142;p20" title="Capture d’écran du 2025-04-01 08-43-5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5525" y="1388025"/>
            <a:ext cx="5503099" cy="311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/>
          <p:nvPr/>
        </p:nvSpPr>
        <p:spPr>
          <a:xfrm rot="-355994">
            <a:off x="559852" y="155380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 txBox="1"/>
          <p:nvPr>
            <p:ph idx="4294967295" type="ctrTitle"/>
          </p:nvPr>
        </p:nvSpPr>
        <p:spPr>
          <a:xfrm>
            <a:off x="992775" y="1303875"/>
            <a:ext cx="2532900" cy="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Créer un s3 bucket et une BDD SQL pour le backend</a:t>
            </a:r>
            <a:endParaRPr sz="15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5" name="Google Shape;145;p20"/>
          <p:cNvSpPr/>
          <p:nvPr/>
        </p:nvSpPr>
        <p:spPr>
          <a:xfrm rot="-355994">
            <a:off x="559852" y="239200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 txBox="1"/>
          <p:nvPr>
            <p:ph idx="4294967295" type="ctrTitle"/>
          </p:nvPr>
        </p:nvSpPr>
        <p:spPr>
          <a:xfrm>
            <a:off x="992775" y="2191375"/>
            <a:ext cx="2532900" cy="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Pousser Dockerfile et Requirements.txt sur HgF</a:t>
            </a:r>
            <a:endParaRPr sz="15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7" name="Google Shape;147;p20"/>
          <p:cNvSpPr/>
          <p:nvPr/>
        </p:nvSpPr>
        <p:spPr>
          <a:xfrm rot="-355994">
            <a:off x="559852" y="323020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 txBox="1"/>
          <p:nvPr>
            <p:ph idx="4294967295" type="ctrTitle"/>
          </p:nvPr>
        </p:nvSpPr>
        <p:spPr>
          <a:xfrm>
            <a:off x="1040275" y="3006875"/>
            <a:ext cx="2485200" cy="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Paramétrer les variables d’environnement</a:t>
            </a:r>
            <a:endParaRPr sz="15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9" name="Google Shape;149;p20"/>
          <p:cNvSpPr/>
          <p:nvPr/>
        </p:nvSpPr>
        <p:spPr>
          <a:xfrm rot="-355994">
            <a:off x="559852" y="414460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 txBox="1"/>
          <p:nvPr>
            <p:ph idx="4294967295" type="ctrTitle"/>
          </p:nvPr>
        </p:nvSpPr>
        <p:spPr>
          <a:xfrm>
            <a:off x="1040275" y="3921275"/>
            <a:ext cx="2485200" cy="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Créer des run </a:t>
            </a:r>
            <a:r>
              <a:rPr lang="fr" sz="15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mlf</a:t>
            </a:r>
            <a:r>
              <a:rPr lang="fr" sz="15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low dans les tests</a:t>
            </a:r>
            <a:endParaRPr sz="15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/>
          <p:nvPr/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Résultats</a:t>
            </a: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?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</a:t>
            </a:r>
            <a:endParaRPr/>
          </a:p>
        </p:txBody>
      </p:sp>
      <p:sp>
        <p:nvSpPr>
          <p:cNvPr id="158" name="Google Shape;158;p21"/>
          <p:cNvSpPr/>
          <p:nvPr/>
        </p:nvSpPr>
        <p:spPr>
          <a:xfrm rot="-355994">
            <a:off x="559852" y="132520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 txBox="1"/>
          <p:nvPr>
            <p:ph idx="4294967295" type="ctrTitle"/>
          </p:nvPr>
        </p:nvSpPr>
        <p:spPr>
          <a:xfrm>
            <a:off x="1092100" y="1084278"/>
            <a:ext cx="5315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Score trop faible pour application terrain</a:t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0" name="Google Shape;160;p21" title="Capture d’écran du 2025-04-01 07-55-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9225" y="1637500"/>
            <a:ext cx="5798199" cy="33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 txBox="1"/>
          <p:nvPr/>
        </p:nvSpPr>
        <p:spPr>
          <a:xfrm>
            <a:off x="117400" y="2788225"/>
            <a:ext cx="1893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</a:rPr>
              <a:t>XGB Classifier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7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9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idx="4294967295" type="ctrTitle"/>
          </p:nvPr>
        </p:nvSpPr>
        <p:spPr>
          <a:xfrm>
            <a:off x="1192679" y="403300"/>
            <a:ext cx="7120500" cy="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Déploiement du </a:t>
            </a: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modèle ( POC )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67" name="Google Shape;16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2" title="Demo_Streamlit_HPP_Prediction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4375" y="1129975"/>
            <a:ext cx="3290175" cy="3725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/>
          <p:nvPr/>
        </p:nvSpPr>
        <p:spPr>
          <a:xfrm rot="-355994">
            <a:off x="559852" y="254440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 txBox="1"/>
          <p:nvPr>
            <p:ph idx="4294967295" type="ctrTitle"/>
          </p:nvPr>
        </p:nvSpPr>
        <p:spPr>
          <a:xfrm>
            <a:off x="915850" y="2341325"/>
            <a:ext cx="3773100" cy="17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Gestion des manquants : dropna() sur le dataset et pas d’imputation dans le  preprocess intégré à la pipeline du modèle</a:t>
            </a:r>
            <a:endParaRPr sz="15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—&gt; Toutes les variables utilisés pour </a:t>
            </a:r>
            <a:r>
              <a:rPr lang="fr" sz="15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l'entraînement</a:t>
            </a:r>
            <a:r>
              <a:rPr lang="fr" sz="15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 du modèle doivent être complétées par l’utilisateur</a:t>
            </a:r>
            <a:endParaRPr sz="15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72" name="Google Shape;172;p22"/>
          <p:cNvSpPr/>
          <p:nvPr/>
        </p:nvSpPr>
        <p:spPr>
          <a:xfrm rot="-355994">
            <a:off x="559852" y="147760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2"/>
          <p:cNvSpPr txBox="1"/>
          <p:nvPr>
            <p:ph idx="4294967295" type="ctrTitle"/>
          </p:nvPr>
        </p:nvSpPr>
        <p:spPr>
          <a:xfrm>
            <a:off x="915850" y="1274525"/>
            <a:ext cx="3773100" cy="9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DockerFile + requirements.txt+ app.py → Build → Run en local avec binding pour </a:t>
            </a:r>
            <a:r>
              <a:rPr lang="fr" sz="15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débogage</a:t>
            </a:r>
            <a:r>
              <a:rPr lang="fr" sz="15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fr" sz="15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interactif</a:t>
            </a:r>
            <a:endParaRPr sz="15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Récapitulatif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9" name="Google Shape;179;p23"/>
          <p:cNvSpPr/>
          <p:nvPr/>
        </p:nvSpPr>
        <p:spPr>
          <a:xfrm rot="-355994">
            <a:off x="559852" y="1479947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 txBox="1"/>
          <p:nvPr>
            <p:ph idx="4294967295" type="ctrTitle"/>
          </p:nvPr>
        </p:nvSpPr>
        <p:spPr>
          <a:xfrm>
            <a:off x="992775" y="1250713"/>
            <a:ext cx="7709400" cy="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Définition de la variable cible à partir du rapport</a:t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81" name="Google Shape;18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3"/>
          <p:cNvSpPr/>
          <p:nvPr/>
        </p:nvSpPr>
        <p:spPr>
          <a:xfrm>
            <a:off x="-89937" y="4796100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3"/>
          <p:cNvSpPr txBox="1"/>
          <p:nvPr>
            <p:ph idx="4294967295" type="ctrTitle"/>
          </p:nvPr>
        </p:nvSpPr>
        <p:spPr>
          <a:xfrm>
            <a:off x="992775" y="1890394"/>
            <a:ext cx="7709400" cy="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Sélection</a:t>
            </a:r>
            <a:r>
              <a:rPr lang="fr" sz="20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 des variables en veillant au Data leakage</a:t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84" name="Google Shape;184;p23"/>
          <p:cNvSpPr/>
          <p:nvPr/>
        </p:nvSpPr>
        <p:spPr>
          <a:xfrm rot="-355994">
            <a:off x="559852" y="2153548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3"/>
          <p:cNvSpPr txBox="1"/>
          <p:nvPr>
            <p:ph idx="4294967295" type="ctrTitle"/>
          </p:nvPr>
        </p:nvSpPr>
        <p:spPr>
          <a:xfrm>
            <a:off x="992775" y="2543300"/>
            <a:ext cx="7709400" cy="9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Modélisation en utilisant des techniques de resampling</a:t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86" name="Google Shape;186;p23"/>
          <p:cNvSpPr/>
          <p:nvPr/>
        </p:nvSpPr>
        <p:spPr>
          <a:xfrm rot="-355994">
            <a:off x="559852" y="2750948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3"/>
          <p:cNvSpPr txBox="1"/>
          <p:nvPr>
            <p:ph idx="4294967295" type="ctrTitle"/>
          </p:nvPr>
        </p:nvSpPr>
        <p:spPr>
          <a:xfrm>
            <a:off x="992775" y="3194772"/>
            <a:ext cx="77094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Suivi avec un tableau de bord MlFlow</a:t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88" name="Google Shape;188;p23"/>
          <p:cNvSpPr/>
          <p:nvPr/>
        </p:nvSpPr>
        <p:spPr>
          <a:xfrm rot="-355994">
            <a:off x="559852" y="3439365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3"/>
          <p:cNvSpPr txBox="1"/>
          <p:nvPr>
            <p:ph idx="4294967295" type="ctrTitle"/>
          </p:nvPr>
        </p:nvSpPr>
        <p:spPr>
          <a:xfrm>
            <a:off x="992775" y="3827361"/>
            <a:ext cx="77094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 Medium"/>
                <a:ea typeface="Inter Medium"/>
                <a:cs typeface="Inter Medium"/>
                <a:sym typeface="Inter Medium"/>
              </a:rPr>
              <a:t>Construction d’une application Streamlit (POC)</a:t>
            </a:r>
            <a:endParaRPr sz="2000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90" name="Google Shape;190;p23"/>
          <p:cNvSpPr/>
          <p:nvPr/>
        </p:nvSpPr>
        <p:spPr>
          <a:xfrm rot="-355994">
            <a:off x="527594" y="4077540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Perspectives :</a:t>
            </a:r>
            <a:endParaRPr sz="25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97" name="Google Shape;197;p2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</a:t>
            </a:r>
            <a:endParaRPr/>
          </a:p>
        </p:txBody>
      </p:sp>
      <p:sp>
        <p:nvSpPr>
          <p:cNvPr id="198" name="Google Shape;198;p24"/>
          <p:cNvSpPr/>
          <p:nvPr/>
        </p:nvSpPr>
        <p:spPr>
          <a:xfrm rot="-355994">
            <a:off x="559852" y="163000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4"/>
          <p:cNvSpPr txBox="1"/>
          <p:nvPr>
            <p:ph idx="4294967295" type="ctrTitle"/>
          </p:nvPr>
        </p:nvSpPr>
        <p:spPr>
          <a:xfrm>
            <a:off x="1092100" y="1389075"/>
            <a:ext cx="82485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Définir clairement le cadre du projet avec les spécialistes Métier  </a:t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p24"/>
          <p:cNvSpPr/>
          <p:nvPr/>
        </p:nvSpPr>
        <p:spPr>
          <a:xfrm rot="-355994">
            <a:off x="559852" y="246820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4"/>
          <p:cNvSpPr txBox="1"/>
          <p:nvPr>
            <p:ph idx="4294967295" type="ctrTitle"/>
          </p:nvPr>
        </p:nvSpPr>
        <p:spPr>
          <a:xfrm>
            <a:off x="1092100" y="2227275"/>
            <a:ext cx="78156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Feature Selection en s’appuyant sur les études cliniques</a:t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24"/>
          <p:cNvSpPr/>
          <p:nvPr/>
        </p:nvSpPr>
        <p:spPr>
          <a:xfrm rot="-355994">
            <a:off x="559852" y="330640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4"/>
          <p:cNvSpPr txBox="1"/>
          <p:nvPr>
            <p:ph idx="4294967295" type="ctrTitle"/>
          </p:nvPr>
        </p:nvSpPr>
        <p:spPr>
          <a:xfrm>
            <a:off x="1092100" y="3065478"/>
            <a:ext cx="5315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Centraliser données de toutes la France </a:t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24"/>
          <p:cNvSpPr/>
          <p:nvPr/>
        </p:nvSpPr>
        <p:spPr>
          <a:xfrm rot="-355994">
            <a:off x="559852" y="4068409"/>
            <a:ext cx="261199" cy="46747"/>
          </a:xfrm>
          <a:prstGeom prst="roundRect">
            <a:avLst>
              <a:gd fmla="val 50000" name="adj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4"/>
          <p:cNvSpPr txBox="1"/>
          <p:nvPr>
            <p:ph idx="4294967295" type="ctrTitle"/>
          </p:nvPr>
        </p:nvSpPr>
        <p:spPr>
          <a:xfrm>
            <a:off x="1092100" y="3827478"/>
            <a:ext cx="53151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000">
                <a:solidFill>
                  <a:srgbClr val="4B5258"/>
                </a:solidFill>
                <a:latin typeface="Inter"/>
                <a:ea typeface="Inter"/>
                <a:cs typeface="Inter"/>
                <a:sym typeface="Inter"/>
              </a:rPr>
              <a:t>Mise en place d’un pipeline automatisé</a:t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rgbClr val="4B525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5774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idx="4294967295" type="ctrTitle"/>
          </p:nvPr>
        </p:nvSpPr>
        <p:spPr>
          <a:xfrm>
            <a:off x="1757500" y="768025"/>
            <a:ext cx="6362700" cy="3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32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À votre écoute pour vos</a:t>
            </a:r>
            <a:endParaRPr sz="3200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3200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32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Questions !</a:t>
            </a:r>
            <a:endParaRPr b="0" i="0" sz="32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211" name="Google Shape;2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0"/>
            <a:ext cx="576900" cy="39278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Rectangle 21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3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320040" y="27432"/>
            <a:ext cx="8503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3449"/>
                </a:solidFill>
                <a:latin typeface="Calibri"/>
              </a:defRPr>
            </a:pPr>
            <a:r>
              <a:t>BLOC 6  ·  RNCP35288  ·  Soutenance projet data A → 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E3449"/>
                </a:solidFill>
                <a:latin typeface="Arial"/>
              </a:defRPr>
            </a:pPr>
            <a:r>
              <a:t>Compétences RNCP — Bloc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15955"/>
                </a:solidFill>
                <a:latin typeface="Calibri"/>
              </a:defRPr>
            </a:pPr>
            <a:r>
              <a:t>Projet HPP · soutenance 10 min · mapping C6.1 → C6.6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868680"/>
            <a:ext cx="2743200" cy="1645920"/>
          </a:xfrm>
          <a:prstGeom prst="round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39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FDAD2"/>
                </a:solidFill>
                <a:latin typeface="Arial"/>
              </a:defRPr>
            </a:pPr>
            <a:r>
              <a:t>C6.1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Enjeux métier →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3FFFC"/>
                </a:solidFill>
                <a:latin typeface="Calibri"/>
              </a:defRPr>
            </a:pPr>
            <a:r>
              <a:t>HPP sévère (~2 %) · anticipation soins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868680"/>
            <a:ext cx="2743200" cy="1645920"/>
          </a:xfrm>
          <a:prstGeom prst="round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005839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FDAD2"/>
                </a:solidFill>
                <a:latin typeface="Arial"/>
              </a:defRPr>
            </a:pPr>
            <a:r>
              <a:t>C6.2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3258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Veille &amp;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2880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3FFFC"/>
                </a:solidFill>
                <a:latin typeface="Calibri"/>
              </a:defRPr>
            </a:pPr>
            <a:r>
              <a:t>SMOTE · XGB/RF/LR · MLflow · Docker · HF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868680"/>
            <a:ext cx="2743200" cy="1645920"/>
          </a:xfrm>
          <a:prstGeom prst="round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005839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FDAD2"/>
                </a:solidFill>
                <a:latin typeface="Arial"/>
              </a:defRPr>
            </a:pPr>
            <a:r>
              <a:t>C6.3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3258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Cadrage projet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2880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3FFFC"/>
                </a:solidFill>
                <a:latin typeface="Calibri"/>
              </a:defRPr>
            </a:pPr>
            <a:r>
              <a:t>Objectif clinique · anti-leakage · POC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697480"/>
            <a:ext cx="2743200" cy="1645920"/>
          </a:xfrm>
          <a:prstGeom prst="round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34640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FDAD2"/>
                </a:solidFill>
                <a:latin typeface="Arial"/>
              </a:defRPr>
            </a:pPr>
            <a:r>
              <a:t>C6.4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546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Pilotage &amp; RGPD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3FFFC"/>
                </a:solidFill>
                <a:latin typeface="Calibri"/>
              </a:defRPr>
            </a:pPr>
            <a:r>
              <a:t>Recall prioritaire · données anonymisées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2697480"/>
            <a:ext cx="2743200" cy="1645920"/>
          </a:xfrm>
          <a:prstGeom prst="round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2834640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FDAD2"/>
                </a:solidFill>
                <a:latin typeface="Arial"/>
              </a:defRPr>
            </a:pPr>
            <a:r>
              <a:t>C6.5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1546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Vulgarisation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65760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3FFFC"/>
                </a:solidFill>
                <a:latin typeface="Calibri"/>
              </a:defRPr>
            </a:pPr>
            <a:r>
              <a:t>Streamlit soignants · storytelling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697480"/>
            <a:ext cx="2743200" cy="1645920"/>
          </a:xfrm>
          <a:prstGeom prst="round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834640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FDAD2"/>
                </a:solidFill>
                <a:latin typeface="Arial"/>
              </a:defRPr>
            </a:pPr>
            <a:r>
              <a:t>C6.6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1546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Direction A → 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65760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3FFFC"/>
                </a:solidFill>
                <a:latin typeface="Calibri"/>
              </a:defRPr>
            </a:pPr>
            <a:r>
              <a:t>Conception → MLOps → POC → perspectives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892040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8E4DD"/>
                </a:solidFill>
                <a:latin typeface="Calibri"/>
              </a:defRPr>
            </a:pPr>
            <a:r>
              <a:t>Thibaut Modrin  ·  RNCP35288  ·  Bloc 6 — HPP Prediction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892040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FDAD2"/>
                </a:solidFill>
                <a:latin typeface="Calibri"/>
              </a:defRPr>
            </a:pPr>
            <a:r>
              <a:t>02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