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160520"/>
            <a:ext cx="9144000" cy="98298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82296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ORAL DE CERTIFICATION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1280160"/>
            <a:ext cx="7772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Science &amp;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Intelligence Artificielle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640080" y="29718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Présentation des mini-projets — RNCP35288 (Niveau 6)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443484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Thibaut Modrin  ·  Jedha Bootcamp  ·  2025–2026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 de l'oral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731520"/>
            <a:ext cx="1371600" cy="36576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51560"/>
            <a:ext cx="8229600" cy="548640"/>
          </a:xfrm>
          <a:prstGeom prst="roundRect">
            <a:avLst>
              <a:gd name="adj" fmla="val 10000"/>
            </a:avLst>
          </a:prstGeom>
          <a:solidFill>
            <a:srgbClr val="F3F1EC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14300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645920" y="1161288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Parcours &amp; objectifs de certification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1709928"/>
            <a:ext cx="822960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801368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645920" y="1819656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Cartographie des 8 mini-projets ↔ blocs RNCP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57200" y="2368296"/>
            <a:ext cx="8229600" cy="548640"/>
          </a:xfrm>
          <a:prstGeom prst="roundRect">
            <a:avLst>
              <a:gd name="adj" fmla="val 10000"/>
            </a:avLst>
          </a:prstGeom>
          <a:solidFill>
            <a:srgbClr val="F3F1EC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459736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645920" y="2478024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Projet 1 — Kayak (pipeline data)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57200" y="3026664"/>
            <a:ext cx="822960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118104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645920" y="3136392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Tour d'horizon — EDA, ML, DL, déploiement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57200" y="3685032"/>
            <a:ext cx="8229600" cy="548640"/>
          </a:xfrm>
          <a:prstGeom prst="roundRect">
            <a:avLst>
              <a:gd name="adj" fmla="val 10000"/>
            </a:avLst>
          </a:prstGeom>
          <a:solidFill>
            <a:srgbClr val="F3F1EC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3776472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645920" y="3794760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Compétences, limites &amp; perspectives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1" name="Text 19"/>
          <p:cNvSpPr/>
          <p:nvPr/>
        </p:nvSpPr>
        <p:spPr>
          <a:xfrm>
            <a:off x="365760" y="4919472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Thibaut Modrin  ·  RNCP35288  ·  Jedha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498080" y="4919472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14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Objectifs de la certification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685800"/>
            <a:ext cx="1371600" cy="36576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1005840"/>
            <a:ext cx="274320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05840"/>
            <a:ext cx="91440" cy="146304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23444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Collecter &amp; industrialiser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94360" y="169164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APIs, scraping, cloud (S3/RDS), pipelines reproductibles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46120" y="1005840"/>
            <a:ext cx="274320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46120" y="1005840"/>
            <a:ext cx="91440" cy="146304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0" y="123444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Explorer &amp; visualiser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474720" y="169164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EDA, stats descriptives, storytelling data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126480" y="1005840"/>
            <a:ext cx="274320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26480" y="1005840"/>
            <a:ext cx="91440" cy="146304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15" name="Text 13"/>
          <p:cNvSpPr/>
          <p:nvPr/>
        </p:nvSpPr>
        <p:spPr>
          <a:xfrm>
            <a:off x="6355080" y="123444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Prédire (structuré)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355080" y="169164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Régression, classification, clustering, métriques métier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" y="2697480"/>
            <a:ext cx="274320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5760" y="2697480"/>
            <a:ext cx="91440" cy="146304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19" name="Text 17"/>
          <p:cNvSpPr/>
          <p:nvPr/>
        </p:nvSpPr>
        <p:spPr>
          <a:xfrm>
            <a:off x="594360" y="292608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Prédire (non structuré)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94360" y="338328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NLP, deep learning, transfer learning (BERT)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246120" y="2697480"/>
            <a:ext cx="274320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46120" y="2697480"/>
            <a:ext cx="91440" cy="146304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23" name="Text 21"/>
          <p:cNvSpPr/>
          <p:nvPr/>
        </p:nvSpPr>
        <p:spPr>
          <a:xfrm>
            <a:off x="3474720" y="292608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Déployer &amp; décider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474720" y="338328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FastAPI, dashboard, industrialisation ML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126480" y="2697480"/>
            <a:ext cx="274320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126480" y="2697480"/>
            <a:ext cx="91440" cy="146304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27" name="Text 25"/>
          <p:cNvSpPr/>
          <p:nvPr/>
        </p:nvSpPr>
        <p:spPr>
          <a:xfrm>
            <a:off x="6355080" y="292608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Piloter un projet data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355080" y="338328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Problème business → livrable → recommandations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0" name="Text 28"/>
          <p:cNvSpPr/>
          <p:nvPr/>
        </p:nvSpPr>
        <p:spPr>
          <a:xfrm>
            <a:off x="365760" y="4919472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Thibaut Modrin  ·  RNCP35288  ·  Jedha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498080" y="4919472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14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mini-projets · 6 blocs RNCP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777240"/>
            <a:ext cx="2057400" cy="1691640"/>
          </a:xfrm>
          <a:prstGeom prst="roundRect">
            <a:avLst>
              <a:gd name="adj" fmla="val 4324"/>
            </a:avLst>
          </a:prstGeom>
          <a:solidFill>
            <a:srgbClr val="1B2A4A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9601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2801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Kayak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17373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pipeline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05740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 B1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514600" y="777240"/>
            <a:ext cx="2057400" cy="1691640"/>
          </a:xfrm>
          <a:prstGeom prst="roundRect">
            <a:avLst>
              <a:gd name="adj" fmla="val 4324"/>
            </a:avLst>
          </a:prstGeom>
          <a:solidFill>
            <a:srgbClr val="1B2A4A"/>
          </a:solidFill>
          <a:ln/>
        </p:spPr>
      </p:sp>
      <p:sp>
        <p:nvSpPr>
          <p:cNvPr id="10" name="Text 8"/>
          <p:cNvSpPr/>
          <p:nvPr/>
        </p:nvSpPr>
        <p:spPr>
          <a:xfrm>
            <a:off x="2651760" y="9601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651760" y="12801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Tinder EDA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651760" y="17373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Visualisation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651760" y="205740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 B2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709160" y="777240"/>
            <a:ext cx="2057400" cy="1691640"/>
          </a:xfrm>
          <a:prstGeom prst="roundRect">
            <a:avLst>
              <a:gd name="adj" fmla="val 4324"/>
            </a:avLst>
          </a:prstGeom>
          <a:solidFill>
            <a:srgbClr val="1B2A4A"/>
          </a:solidFill>
          <a:ln/>
        </p:spPr>
      </p:sp>
      <p:sp>
        <p:nvSpPr>
          <p:cNvPr id="15" name="Text 13"/>
          <p:cNvSpPr/>
          <p:nvPr/>
        </p:nvSpPr>
        <p:spPr>
          <a:xfrm>
            <a:off x="4846320" y="9601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46320" y="12801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Steam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846320" y="17373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Data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846320" y="205740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 B1–2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903720" y="777240"/>
            <a:ext cx="2057400" cy="1691640"/>
          </a:xfrm>
          <a:prstGeom prst="roundRect">
            <a:avLst>
              <a:gd name="adj" fmla="val 4324"/>
            </a:avLst>
          </a:prstGeom>
          <a:solidFill>
            <a:srgbClr val="1B2A4A"/>
          </a:solidFill>
          <a:ln/>
        </p:spPr>
      </p:sp>
      <p:sp>
        <p:nvSpPr>
          <p:cNvPr id="20" name="Text 18"/>
          <p:cNvSpPr/>
          <p:nvPr/>
        </p:nvSpPr>
        <p:spPr>
          <a:xfrm>
            <a:off x="7040880" y="9601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P4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040880" y="12801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Walmart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040880" y="17373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Régression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040880" y="205740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 B3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0040" y="2651760"/>
            <a:ext cx="2057400" cy="1691640"/>
          </a:xfrm>
          <a:prstGeom prst="roundRect">
            <a:avLst>
              <a:gd name="adj" fmla="val 4324"/>
            </a:avLst>
          </a:prstGeom>
          <a:solidFill>
            <a:srgbClr val="1B2A4A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" y="28346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P5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57200" y="31546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Conversion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57200" y="36118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57200" y="393192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 B3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514600" y="2651760"/>
            <a:ext cx="2057400" cy="1691640"/>
          </a:xfrm>
          <a:prstGeom prst="roundRect">
            <a:avLst>
              <a:gd name="adj" fmla="val 4324"/>
            </a:avLst>
          </a:prstGeom>
          <a:solidFill>
            <a:srgbClr val="1B2A4A"/>
          </a:solidFill>
          <a:ln/>
        </p:spPr>
      </p:sp>
      <p:sp>
        <p:nvSpPr>
          <p:cNvPr id="30" name="Text 28"/>
          <p:cNvSpPr/>
          <p:nvPr/>
        </p:nvSpPr>
        <p:spPr>
          <a:xfrm>
            <a:off x="2651760" y="28346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P6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2651760" y="31546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Uber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2651760" y="36118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2651760" y="393192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 B3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709160" y="2651760"/>
            <a:ext cx="2057400" cy="1691640"/>
          </a:xfrm>
          <a:prstGeom prst="roundRect">
            <a:avLst>
              <a:gd name="adj" fmla="val 4324"/>
            </a:avLst>
          </a:prstGeom>
          <a:solidFill>
            <a:srgbClr val="1B2A4A"/>
          </a:solidFill>
          <a:ln/>
        </p:spPr>
      </p:sp>
      <p:sp>
        <p:nvSpPr>
          <p:cNvPr id="35" name="Text 33"/>
          <p:cNvSpPr/>
          <p:nvPr/>
        </p:nvSpPr>
        <p:spPr>
          <a:xfrm>
            <a:off x="4846320" y="28346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P7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846320" y="31546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AT&amp;T Spam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4846320" y="36118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4846320" y="393192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 B4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903720" y="2651760"/>
            <a:ext cx="2057400" cy="1691640"/>
          </a:xfrm>
          <a:prstGeom prst="roundRect">
            <a:avLst>
              <a:gd name="adj" fmla="val 4324"/>
            </a:avLst>
          </a:prstGeom>
          <a:solidFill>
            <a:srgbClr val="1B2A4A"/>
          </a:solidFill>
          <a:ln/>
        </p:spPr>
      </p:sp>
      <p:sp>
        <p:nvSpPr>
          <p:cNvPr id="40" name="Text 38"/>
          <p:cNvSpPr/>
          <p:nvPr/>
        </p:nvSpPr>
        <p:spPr>
          <a:xfrm>
            <a:off x="7040880" y="28346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P8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7040880" y="31546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Getaround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7040880" y="36118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Déploiement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7040880" y="393192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 B5–6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45" name="Text 43"/>
          <p:cNvSpPr/>
          <p:nvPr/>
        </p:nvSpPr>
        <p:spPr>
          <a:xfrm>
            <a:off x="365760" y="4919472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Thibaut Modrin  ·  RNCP35288  ·  Jedha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7498080" y="4919472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Focus P1 — Kayak : le problème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685800"/>
            <a:ext cx="1371600" cy="36576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1005840"/>
            <a:ext cx="4023360" cy="1554480"/>
          </a:xfrm>
          <a:prstGeom prst="roundRect">
            <a:avLst>
              <a:gd name="adj" fmla="val 4706"/>
            </a:avLst>
          </a:prstGeom>
          <a:solidFill>
            <a:srgbClr val="1B2A4A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18872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70 %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548640" y="19202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voyageurs veulent plus d'infos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 la destination avant de réserver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663440" y="1005840"/>
            <a:ext cx="4023360" cy="1554480"/>
          </a:xfrm>
          <a:prstGeom prst="roundRect">
            <a:avLst>
              <a:gd name="adj" fmla="val 4706"/>
            </a:avLst>
          </a:prstGeom>
          <a:solidFill>
            <a:srgbClr val="1B2A4A"/>
          </a:solidFill>
          <a:ln/>
        </p:spPr>
      </p:sp>
      <p:sp>
        <p:nvSpPr>
          <p:cNvPr id="9" name="Text 7"/>
          <p:cNvSpPr/>
          <p:nvPr/>
        </p:nvSpPr>
        <p:spPr>
          <a:xfrm>
            <a:off x="4846320" y="118872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~32 %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4846320" y="19202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abandonnent si météo / hôtels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sont insuffisamment renseignés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28346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Mission data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7200" y="32004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Construire un pipeline complet : collecter GPS + météo + hôtels pour 35 villes françaises,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scorer les destinations, stocker en cloud (S3 + RDS) et visualiser sur une carte interactive.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7200" y="4206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Compétence RNCP · Bloc 1 — Infrastructure de gestion de données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5" name="Text 13"/>
          <p:cNvSpPr/>
          <p:nvPr/>
        </p:nvSpPr>
        <p:spPr>
          <a:xfrm>
            <a:off x="365760" y="4919472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Thibaut Modrin  ·  RNCP35288  ·  Jedha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498080" y="4919472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14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du pipeline Kayak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1325880" cy="2194560"/>
          </a:xfrm>
          <a:prstGeom prst="roundRect">
            <a:avLst>
              <a:gd name="adj" fmla="val 5517"/>
            </a:avLst>
          </a:prstGeom>
          <a:solidFill>
            <a:srgbClr val="1B2A4A"/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1188720"/>
            <a:ext cx="502920" cy="502920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261872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47472" y="187452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47472" y="233172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Nominatim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508760" y="182880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737360" y="1005840"/>
            <a:ext cx="1325880" cy="2194560"/>
          </a:xfrm>
          <a:prstGeom prst="roundRect">
            <a:avLst>
              <a:gd name="adj" fmla="val 5517"/>
            </a:avLst>
          </a:prstGeom>
          <a:solidFill>
            <a:srgbClr val="1B2A4A"/>
          </a:solidFill>
          <a:ln/>
        </p:spPr>
      </p:sp>
      <p:sp>
        <p:nvSpPr>
          <p:cNvPr id="11" name="Shape 9"/>
          <p:cNvSpPr/>
          <p:nvPr/>
        </p:nvSpPr>
        <p:spPr>
          <a:xfrm>
            <a:off x="2148840" y="1188720"/>
            <a:ext cx="502920" cy="502920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12" name="Text 10"/>
          <p:cNvSpPr/>
          <p:nvPr/>
        </p:nvSpPr>
        <p:spPr>
          <a:xfrm>
            <a:off x="2148840" y="1261872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810512" y="187452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Météo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810512" y="233172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OpenWeather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score CCM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971800" y="182880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3200400" y="1005840"/>
            <a:ext cx="1325880" cy="2194560"/>
          </a:xfrm>
          <a:prstGeom prst="roundRect">
            <a:avLst>
              <a:gd name="adj" fmla="val 5517"/>
            </a:avLst>
          </a:prstGeom>
          <a:solidFill>
            <a:srgbClr val="1B2A4A"/>
          </a:solidFill>
          <a:ln/>
        </p:spPr>
      </p:sp>
      <p:sp>
        <p:nvSpPr>
          <p:cNvPr id="17" name="Shape 15"/>
          <p:cNvSpPr/>
          <p:nvPr/>
        </p:nvSpPr>
        <p:spPr>
          <a:xfrm>
            <a:off x="3611880" y="1188720"/>
            <a:ext cx="502920" cy="502920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18" name="Text 16"/>
          <p:cNvSpPr/>
          <p:nvPr/>
        </p:nvSpPr>
        <p:spPr>
          <a:xfrm>
            <a:off x="3611880" y="1261872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273552" y="187452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273552" y="233172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Stockage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cloud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434840" y="182880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4663440" y="1005840"/>
            <a:ext cx="1325880" cy="2194560"/>
          </a:xfrm>
          <a:prstGeom prst="roundRect">
            <a:avLst>
              <a:gd name="adj" fmla="val 5517"/>
            </a:avLst>
          </a:prstGeom>
          <a:solidFill>
            <a:srgbClr val="1B2A4A"/>
          </a:solidFill>
          <a:ln/>
        </p:spPr>
      </p:sp>
      <p:sp>
        <p:nvSpPr>
          <p:cNvPr id="23" name="Shape 21"/>
          <p:cNvSpPr/>
          <p:nvPr/>
        </p:nvSpPr>
        <p:spPr>
          <a:xfrm>
            <a:off x="5074920" y="1188720"/>
            <a:ext cx="502920" cy="502920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24" name="Text 22"/>
          <p:cNvSpPr/>
          <p:nvPr/>
        </p:nvSpPr>
        <p:spPr>
          <a:xfrm>
            <a:off x="5074920" y="1261872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4736592" y="187452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Scraping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736592" y="233172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Scrapy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Booking.com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897880" y="182880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6126480" y="1005840"/>
            <a:ext cx="1325880" cy="2194560"/>
          </a:xfrm>
          <a:prstGeom prst="roundRect">
            <a:avLst>
              <a:gd name="adj" fmla="val 5517"/>
            </a:avLst>
          </a:prstGeom>
          <a:solidFill>
            <a:srgbClr val="1B2A4A"/>
          </a:solidFill>
          <a:ln/>
        </p:spPr>
      </p:sp>
      <p:sp>
        <p:nvSpPr>
          <p:cNvPr id="29" name="Shape 27"/>
          <p:cNvSpPr/>
          <p:nvPr/>
        </p:nvSpPr>
        <p:spPr>
          <a:xfrm>
            <a:off x="6537960" y="1188720"/>
            <a:ext cx="502920" cy="502920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30" name="Text 28"/>
          <p:cNvSpPr/>
          <p:nvPr/>
        </p:nvSpPr>
        <p:spPr>
          <a:xfrm>
            <a:off x="6537960" y="1261872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199632" y="187452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RDS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199632" y="233172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relationnel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360920" y="182880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7589520" y="1005840"/>
            <a:ext cx="1325880" cy="2194560"/>
          </a:xfrm>
          <a:prstGeom prst="roundRect">
            <a:avLst>
              <a:gd name="adj" fmla="val 5517"/>
            </a:avLst>
          </a:prstGeom>
          <a:solidFill>
            <a:srgbClr val="1B2A4A"/>
          </a:solidFill>
          <a:ln/>
        </p:spPr>
      </p:sp>
      <p:sp>
        <p:nvSpPr>
          <p:cNvPr id="35" name="Shape 33"/>
          <p:cNvSpPr/>
          <p:nvPr/>
        </p:nvSpPr>
        <p:spPr>
          <a:xfrm>
            <a:off x="8001000" y="1188720"/>
            <a:ext cx="502920" cy="502920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36" name="Text 34"/>
          <p:cNvSpPr/>
          <p:nvPr/>
        </p:nvSpPr>
        <p:spPr>
          <a:xfrm>
            <a:off x="8001000" y="1261872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7662672" y="187452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Viz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7662672" y="233172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Plotly /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365760" y="347472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Outils : Python · requests · Scrapy · boto3 · SQLAlchemy · pandas · Plotly · dotenv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365760" y="3931920"/>
            <a:ext cx="8412480" cy="640080"/>
          </a:xfrm>
          <a:prstGeom prst="roundRect">
            <a:avLst>
              <a:gd name="adj" fmla="val 8571"/>
            </a:avLst>
          </a:prstGeom>
          <a:solidFill>
            <a:srgbClr val="E6F4F5"/>
          </a:solidFill>
          <a:ln/>
        </p:spPr>
      </p:sp>
      <p:sp>
        <p:nvSpPr>
          <p:cNvPr id="41" name="Text 39"/>
          <p:cNvSpPr/>
          <p:nvPr/>
        </p:nvSpPr>
        <p:spPr>
          <a:xfrm>
            <a:off x="548640" y="40690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 externalisés (.env) · rate limiting Scrapy · Free Tier AWS (S3 + db.t4g.micro)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43" name="Text 41"/>
          <p:cNvSpPr/>
          <p:nvPr/>
        </p:nvSpPr>
        <p:spPr>
          <a:xfrm>
            <a:off x="365760" y="4919472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Thibaut Modrin  ·  RNCP35288  ·  Jedha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7498080" y="4919472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14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Résultats Kayak — chiffres clés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2011680" cy="1737360"/>
          </a:xfrm>
          <a:prstGeom prst="roundRect">
            <a:avLst>
              <a:gd name="adj" fmla="val 4211"/>
            </a:avLst>
          </a:prstGeom>
          <a:solidFill>
            <a:srgbClr val="1B2A4A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5156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17830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Villes FR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géocodées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560320" y="822960"/>
            <a:ext cx="2011680" cy="1737360"/>
          </a:xfrm>
          <a:prstGeom prst="roundRect">
            <a:avLst>
              <a:gd name="adj" fmla="val 4211"/>
            </a:avLst>
          </a:prstGeom>
          <a:solidFill>
            <a:srgbClr val="1B2A4A"/>
          </a:solidFill>
          <a:ln/>
        </p:spPr>
      </p:sp>
      <p:sp>
        <p:nvSpPr>
          <p:cNvPr id="8" name="Text 6"/>
          <p:cNvSpPr/>
          <p:nvPr/>
        </p:nvSpPr>
        <p:spPr>
          <a:xfrm>
            <a:off x="2651760" y="105156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~310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2651760" y="17830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Hôtels scrapés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(échantillon)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54880" y="822960"/>
            <a:ext cx="2011680" cy="1737360"/>
          </a:xfrm>
          <a:prstGeom prst="roundRect">
            <a:avLst>
              <a:gd name="adj" fmla="val 4211"/>
            </a:avLst>
          </a:prstGeom>
          <a:solidFill>
            <a:srgbClr val="1B2A4A"/>
          </a:solidFill>
          <a:ln/>
        </p:spPr>
      </p:sp>
      <p:sp>
        <p:nvSpPr>
          <p:cNvPr id="11" name="Text 9"/>
          <p:cNvSpPr/>
          <p:nvPr/>
        </p:nvSpPr>
        <p:spPr>
          <a:xfrm>
            <a:off x="4846320" y="105156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8.7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4846320" y="17830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moyenne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hôtels / 10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949440" y="822960"/>
            <a:ext cx="2011680" cy="1737360"/>
          </a:xfrm>
          <a:prstGeom prst="roundRect">
            <a:avLst>
              <a:gd name="adj" fmla="val 4211"/>
            </a:avLst>
          </a:prstGeom>
          <a:solidFill>
            <a:srgbClr val="1B2A4A"/>
          </a:solidFill>
          <a:ln/>
        </p:spPr>
      </p:sp>
      <p:sp>
        <p:nvSpPr>
          <p:cNvPr id="14" name="Text 12"/>
          <p:cNvSpPr/>
          <p:nvPr/>
        </p:nvSpPr>
        <p:spPr>
          <a:xfrm>
            <a:off x="7040880" y="105156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0.93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7040880" y="17830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CCM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(Le Havre)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28346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Livrables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57200" y="32461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CSV ranking météo (CCM) + jointure hôtels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754880" y="32461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Bucket S3 + base MySQL RDS (table dbkayak)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" y="36576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Carte interactive destinations + liens Booking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754880" y="36576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Code Scrapy CLI (booking_scrap_final.py)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2" name="Text 20"/>
          <p:cNvSpPr/>
          <p:nvPr/>
        </p:nvSpPr>
        <p:spPr>
          <a:xfrm>
            <a:off x="365760" y="4919472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Thibaut Modrin  ·  RNCP35288  ·  Jedha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498080" y="4919472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14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P2–P3 — Explorer les données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4114800" cy="35661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12700" dir="162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822960"/>
            <a:ext cx="4114800" cy="50292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9144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P2 · Tinder / Speed Dating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14630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 2 — EDA &amp; visualisation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1920240"/>
            <a:ext cx="37490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speed dating (préférences, matchs)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Nettoyage waves 6–9 (échelle incompatible)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visualisations (genre, race, ordre des dates…)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 : attributs désirables H/F, biais de match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663440" y="822960"/>
            <a:ext cx="4114800" cy="35661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12700" dir="162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822960"/>
            <a:ext cx="4114800" cy="50292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1" name="Text 9"/>
          <p:cNvSpPr/>
          <p:nvPr/>
        </p:nvSpPr>
        <p:spPr>
          <a:xfrm>
            <a:off x="4800600" y="9144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P3 · Steam (Big Data)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846320" y="14630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Blocs 1–2 — volume &amp; EDA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46320" y="1920240"/>
            <a:ext cx="37490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 Databricks (Spark)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Nettoyage / tidying de données jeux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exploratoire à l'échelle cloud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Passage d'un volume local à un environnement Big Data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5" name="Text 13"/>
          <p:cNvSpPr/>
          <p:nvPr/>
        </p:nvSpPr>
        <p:spPr>
          <a:xfrm>
            <a:off x="365760" y="4919472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Thibaut Modrin  ·  RNCP35288  ·  Jedha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498080" y="4919472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14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P4–P5 — Machine Learning supervisé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731520"/>
            <a:ext cx="4160520" cy="3749040"/>
          </a:xfrm>
          <a:prstGeom prst="roundRect">
            <a:avLst>
              <a:gd name="adj" fmla="val 1951"/>
            </a:avLst>
          </a:prstGeom>
          <a:solidFill>
            <a:srgbClr val="1B2A4A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9144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P4 · WALMART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128016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Prédiction des ventes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hebdomadaires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02920" y="210312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test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233172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0.93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502920" y="3017520"/>
            <a:ext cx="3794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Ridge (α optimisé) · features store / holiday / fuel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Régression linéaire + régularisation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" y="4023360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Métrique : R²  ·  Bloc 3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663440" y="731520"/>
            <a:ext cx="4160520" cy="3749040"/>
          </a:xfrm>
          <a:prstGeom prst="roundRect">
            <a:avLst>
              <a:gd name="adj" fmla="val 1951"/>
            </a:avLst>
          </a:prstGeom>
          <a:solidFill>
            <a:srgbClr val="1B2A4A"/>
          </a:solidFill>
          <a:ln/>
        </p:spPr>
      </p:sp>
      <p:sp>
        <p:nvSpPr>
          <p:cNvPr id="12" name="Text 10"/>
          <p:cNvSpPr/>
          <p:nvPr/>
        </p:nvSpPr>
        <p:spPr>
          <a:xfrm>
            <a:off x="4846320" y="9144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P5 · CONVERSION RATE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46320" y="128016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Prédire l'inscription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newsletter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846320" y="210312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46320" y="233172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0.777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4846320" y="3017520"/>
            <a:ext cx="3794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&gt; XGB / RF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Seuil optimisé 0.96 · classe déséquilibrée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846320" y="4023360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Levier : pages visitées, source, pays  ·  Bloc 3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9" name="Text 17"/>
          <p:cNvSpPr/>
          <p:nvPr/>
        </p:nvSpPr>
        <p:spPr>
          <a:xfrm>
            <a:off x="365760" y="4919472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Thibaut Modrin  ·  RNCP35288  ·  Jedha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498080" y="4919472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14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P6–P7 — Clustering &amp; Deep Learning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731520"/>
            <a:ext cx="4160520" cy="374904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12700" dir="162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731520"/>
            <a:ext cx="109728" cy="374904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9144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P6 · UBER NYC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12801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Zones de forte demande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1828800"/>
            <a:ext cx="35661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 spatial lat/lon (+ heure)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KMeans (k=6, elbow + silhouette)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DBSCAN (densité, outliers)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Cartes animées Plotly Mapbox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Aide au positionnement des chauffeurs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663440" y="731520"/>
            <a:ext cx="4160520" cy="374904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12700" dir="162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731520"/>
            <a:ext cx="109728" cy="374904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1" name="Text 9"/>
          <p:cNvSpPr/>
          <p:nvPr/>
        </p:nvSpPr>
        <p:spPr>
          <a:xfrm>
            <a:off x="4983480" y="9144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P7 · AT&amp;T SPAM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983480" y="12801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Détecteur SMS spam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983480" y="1828800"/>
            <a:ext cx="35661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· classification binaire spam/ham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séquentiel simple → Acc. 97.9 %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 : 0.92 (modèle simple)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 transfer learning testé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 4 — données non structurées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5" name="Text 13"/>
          <p:cNvSpPr/>
          <p:nvPr/>
        </p:nvSpPr>
        <p:spPr>
          <a:xfrm>
            <a:off x="365760" y="4919472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Thibaut Modrin  ·  RNCP35288  ·  Jedha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498080" y="4919472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14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P8 — Getaround : industrialiser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Blocs 5 &amp; 6 — Déploiement, automatisation, pilotage projet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261872"/>
            <a:ext cx="365760" cy="36576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31673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43000" y="11887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Analyse retards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931920" y="123444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d'un seuil (threshold) sur les check-in / check-out entre locations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1920240"/>
            <a:ext cx="8412480" cy="685800"/>
          </a:xfrm>
          <a:prstGeom prst="roundRect">
            <a:avLst>
              <a:gd name="adj" fmla="val 8000"/>
            </a:avLst>
          </a:prstGeom>
          <a:solidFill>
            <a:srgbClr val="F3F1EC"/>
          </a:solidFill>
          <a:ln/>
        </p:spPr>
      </p:sp>
      <p:sp>
        <p:nvSpPr>
          <p:cNvPr id="11" name="Shape 9"/>
          <p:cNvSpPr/>
          <p:nvPr/>
        </p:nvSpPr>
        <p:spPr>
          <a:xfrm>
            <a:off x="548640" y="2084832"/>
            <a:ext cx="365760" cy="36576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13969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43000" y="20116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Modèle pricing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931920" y="205740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Régression Ridge pour estimer le prix de location d'un véhicule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2743200"/>
            <a:ext cx="841248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</p:spPr>
      </p:sp>
      <p:sp>
        <p:nvSpPr>
          <p:cNvPr id="16" name="Shape 14"/>
          <p:cNvSpPr/>
          <p:nvPr/>
        </p:nvSpPr>
        <p:spPr>
          <a:xfrm>
            <a:off x="548640" y="2907792"/>
            <a:ext cx="365760" cy="36576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296265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143000" y="28346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FastAPI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3931920" y="288036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 /predict — inférence en production avec artefacts joblib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65760" y="3566160"/>
            <a:ext cx="8412480" cy="685800"/>
          </a:xfrm>
          <a:prstGeom prst="roundRect">
            <a:avLst>
              <a:gd name="adj" fmla="val 8000"/>
            </a:avLst>
          </a:prstGeom>
          <a:solidFill>
            <a:srgbClr val="F3F1EC"/>
          </a:solidFill>
          <a:ln/>
        </p:spPr>
      </p:sp>
      <p:sp>
        <p:nvSpPr>
          <p:cNvPr id="21" name="Shape 19"/>
          <p:cNvSpPr/>
          <p:nvPr/>
        </p:nvSpPr>
        <p:spPr>
          <a:xfrm>
            <a:off x="548640" y="3730752"/>
            <a:ext cx="365760" cy="36576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37856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143000" y="36576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3931920" y="370332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pour explorer retards, pricing et scénarios métier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6" name="Text 24"/>
          <p:cNvSpPr/>
          <p:nvPr/>
        </p:nvSpPr>
        <p:spPr>
          <a:xfrm>
            <a:off x="365760" y="4919472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Thibaut Modrin  ·  RNCP35288  ·  Jedha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498080" y="4919472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14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Compétences démontrées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2743200" cy="1508760"/>
          </a:xfrm>
          <a:prstGeom prst="roundRect">
            <a:avLst>
              <a:gd name="adj" fmla="val 4848"/>
            </a:avLst>
          </a:prstGeom>
          <a:solidFill>
            <a:srgbClr val="1B2A4A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· Scraping · S3 · RDS · ETL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46120" y="868680"/>
            <a:ext cx="2743200" cy="1508760"/>
          </a:xfrm>
          <a:prstGeom prst="roundRect">
            <a:avLst>
              <a:gd name="adj" fmla="val 4848"/>
            </a:avLst>
          </a:prstGeom>
          <a:solidFill>
            <a:srgbClr val="1B2A4A"/>
          </a:solidFill>
          <a:ln/>
        </p:spPr>
      </p:sp>
      <p:sp>
        <p:nvSpPr>
          <p:cNvPr id="8" name="Text 6"/>
          <p:cNvSpPr/>
          <p:nvPr/>
        </p:nvSpPr>
        <p:spPr>
          <a:xfrm>
            <a:off x="3429000" y="11430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B2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29000" y="164592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· Stats · Storytelling viz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126480" y="868680"/>
            <a:ext cx="2743200" cy="1508760"/>
          </a:xfrm>
          <a:prstGeom prst="roundRect">
            <a:avLst>
              <a:gd name="adj" fmla="val 4848"/>
            </a:avLst>
          </a:prstGeom>
          <a:solidFill>
            <a:srgbClr val="1B2A4A"/>
          </a:solidFill>
          <a:ln/>
        </p:spPr>
      </p:sp>
      <p:sp>
        <p:nvSpPr>
          <p:cNvPr id="11" name="Text 9"/>
          <p:cNvSpPr/>
          <p:nvPr/>
        </p:nvSpPr>
        <p:spPr>
          <a:xfrm>
            <a:off x="6309360" y="11430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B3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6309360" y="164592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Régression · Classif. · Clustering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65760" y="2606040"/>
            <a:ext cx="2743200" cy="1508760"/>
          </a:xfrm>
          <a:prstGeom prst="roundRect">
            <a:avLst>
              <a:gd name="adj" fmla="val 4848"/>
            </a:avLst>
          </a:prstGeom>
          <a:solidFill>
            <a:srgbClr val="1B2A4A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28803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B4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548640" y="338328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· TensorFlow · Transfer learning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246120" y="2606040"/>
            <a:ext cx="2743200" cy="1508760"/>
          </a:xfrm>
          <a:prstGeom prst="roundRect">
            <a:avLst>
              <a:gd name="adj" fmla="val 4848"/>
            </a:avLst>
          </a:prstGeom>
          <a:solidFill>
            <a:srgbClr val="1B2A4A"/>
          </a:solidFill>
          <a:ln/>
        </p:spPr>
      </p:sp>
      <p:sp>
        <p:nvSpPr>
          <p:cNvPr id="17" name="Text 15"/>
          <p:cNvSpPr/>
          <p:nvPr/>
        </p:nvSpPr>
        <p:spPr>
          <a:xfrm>
            <a:off x="3429000" y="28803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B5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3429000" y="338328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· Streamlit · Artefacts ML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126480" y="2606040"/>
            <a:ext cx="2743200" cy="1508760"/>
          </a:xfrm>
          <a:prstGeom prst="roundRect">
            <a:avLst>
              <a:gd name="adj" fmla="val 4848"/>
            </a:avLst>
          </a:prstGeom>
          <a:solidFill>
            <a:srgbClr val="1B2A4A"/>
          </a:solidFill>
          <a:ln/>
        </p:spPr>
      </p:sp>
      <p:sp>
        <p:nvSpPr>
          <p:cNvPr id="20" name="Text 18"/>
          <p:cNvSpPr/>
          <p:nvPr/>
        </p:nvSpPr>
        <p:spPr>
          <a:xfrm>
            <a:off x="6309360" y="28803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B6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309360" y="338328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Cadrage · Livrables · Recos métier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3" name="Text 21"/>
          <p:cNvSpPr/>
          <p:nvPr/>
        </p:nvSpPr>
        <p:spPr>
          <a:xfrm>
            <a:off x="365760" y="4919472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Thibaut Modrin  ·  RNCP35288  ·  Jedha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498080" y="4919472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14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Limites &amp; pistes d'amélioration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822960"/>
            <a:ext cx="4160520" cy="35661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0058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03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Aujourd'hui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" y="1554480"/>
            <a:ext cx="37947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Scraping fragile (DOM Booking)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Pipelines manuels (notebooks)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Peu de tests automatisés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parfois en public-read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Métriques DL à mieux calibrer (BERT)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663440" y="822960"/>
            <a:ext cx="4160520" cy="35661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846320" y="10058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7A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Demain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846320" y="1554480"/>
            <a:ext cx="37947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 (Airflow / Prefect)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+ tests unitaires data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modèle en prod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store &amp; versioning (DVC/MLflow)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Accès cloud privé (IAM, signed URLs)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" y="4919472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Thibaut Modrin  ·  RNCP35288  ·  Jedha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498080" y="4919472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14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160520"/>
            <a:ext cx="9144000" cy="98298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18872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Merci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640080" y="20116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échanges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40080" y="283464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 ·  thibautmodrin/CDSD_Certification_Projets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443484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Thibaut Modrin  ·  Data Scientist — RNCP35288  ·  Jedha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Oral Certification Jedha — Data Science &amp; IA</dc:title>
  <dc:subject>RNCP35288 — Présentation des mini-projets</dc:subject>
  <dc:creator>Thibaut Modrin</dc:creator>
  <cp:lastModifiedBy>Thibaut Modrin</cp:lastModifiedBy>
  <cp:revision>1</cp:revision>
  <dcterms:created xsi:type="dcterms:W3CDTF">2026-07-27T21:22:12Z</dcterms:created>
  <dcterms:modified xsi:type="dcterms:W3CDTF">2026-07-27T21:22:12Z</dcterms:modified>
</cp:coreProperties>
</file>